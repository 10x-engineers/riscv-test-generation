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103120"/>
            <a:ext cx="1188720"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331720"/>
            <a:ext cx="10515600" cy="365760"/>
          </a:xfrm>
          <a:prstGeom prst="rect">
            <a:avLst/>
          </a:prstGeom>
          <a:noFill/>
        </p:spPr>
        <p:txBody>
          <a:bodyPr wrap="square" lIns="0" rIns="0" tIns="0" bIns="0">
            <a:spAutoFit/>
          </a:bodyPr>
          <a:lstStyle/>
          <a:p>
            <a:pPr algn="l">
              <a:spcAft>
                <a:spcPts val="400"/>
              </a:spcAft>
            </a:pPr>
            <a:r>
              <a:rPr sz="1200" b="1">
                <a:solidFill>
                  <a:srgbClr val="1A7FC1"/>
                </a:solidFill>
                <a:latin typeface="Calibri"/>
              </a:rPr>
              <a:t>RISC-V INTERNATIONAL  ·  RFP v1.1</a:t>
            </a:r>
          </a:p>
        </p:txBody>
      </p:sp>
      <p:sp>
        <p:nvSpPr>
          <p:cNvPr id="8" name="TextBox 7"/>
          <p:cNvSpPr txBox="1"/>
          <p:nvPr/>
        </p:nvSpPr>
        <p:spPr>
          <a:xfrm>
            <a:off x="566928" y="2788920"/>
            <a:ext cx="10515600" cy="1463040"/>
          </a:xfrm>
          <a:prstGeom prst="rect">
            <a:avLst/>
          </a:prstGeom>
          <a:noFill/>
        </p:spPr>
        <p:txBody>
          <a:bodyPr wrap="square" lIns="0" rIns="0" tIns="0" bIns="0">
            <a:spAutoFit/>
          </a:bodyPr>
          <a:lstStyle/>
          <a:p>
            <a:pPr algn="l">
              <a:spcAft>
                <a:spcPts val="200"/>
              </a:spcAft>
            </a:pPr>
            <a:r>
              <a:rPr sz="4000" b="1">
                <a:solidFill>
                  <a:srgbClr val="0F3057"/>
                </a:solidFill>
                <a:latin typeface="Calibri"/>
              </a:rPr>
              <a:t>Automatic Test Generation</a:t>
            </a:r>
          </a:p>
          <a:p>
            <a:pPr algn="l">
              <a:spcAft>
                <a:spcPts val="200"/>
              </a:spcAft>
            </a:pPr>
            <a:r>
              <a:rPr sz="4000" b="1">
                <a:solidFill>
                  <a:srgbClr val="0F3057"/>
                </a:solidFill>
                <a:latin typeface="Calibri"/>
              </a:rPr>
              <a:t>from the Sail Golden Model</a:t>
            </a:r>
          </a:p>
        </p:txBody>
      </p:sp>
      <p:sp>
        <p:nvSpPr>
          <p:cNvPr id="9" name="TextBox 8"/>
          <p:cNvSpPr txBox="1"/>
          <p:nvPr/>
        </p:nvSpPr>
        <p:spPr>
          <a:xfrm>
            <a:off x="566928" y="4343400"/>
            <a:ext cx="9144000" cy="731520"/>
          </a:xfrm>
          <a:prstGeom prst="rect">
            <a:avLst/>
          </a:prstGeom>
          <a:noFill/>
        </p:spPr>
        <p:txBody>
          <a:bodyPr wrap="square" lIns="0" rIns="0" tIns="0" bIns="0">
            <a:spAutoFit/>
          </a:bodyPr>
          <a:lstStyle/>
          <a:p>
            <a:pPr algn="l">
              <a:spcAft>
                <a:spcPts val="400"/>
              </a:spcAft>
            </a:pPr>
            <a:r>
              <a:rPr sz="1400" b="0">
                <a:solidFill>
                  <a:srgbClr val="5C6672"/>
                </a:solidFill>
                <a:latin typeface="Calibri"/>
              </a:rPr>
              <a:t>A hybrid framework: symbolic path-solving where the model can be reasoned about,</a:t>
            </a:r>
          </a:p>
          <a:p>
            <a:pPr algn="l">
              <a:spcAft>
                <a:spcPts val="400"/>
              </a:spcAft>
            </a:pPr>
            <a:r>
              <a:rPr sz="1400" b="0">
                <a:solidFill>
                  <a:srgbClr val="5C6672"/>
                </a:solidFill>
                <a:latin typeface="Calibri"/>
              </a:rPr>
              <a:t>concrete model-as-oracle where it cannot, and one control layer that decides which.</a:t>
            </a:r>
          </a:p>
        </p:txBody>
      </p:sp>
      <p:sp>
        <p:nvSpPr>
          <p:cNvPr id="10" name="Rectangle 9"/>
          <p:cNvSpPr/>
          <p:nvPr/>
        </p:nvSpPr>
        <p:spPr>
          <a:xfrm>
            <a:off x="566928" y="5349240"/>
            <a:ext cx="11055096" cy="18288"/>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5532120"/>
            <a:ext cx="4572000" cy="548640"/>
          </a:xfrm>
          <a:prstGeom prst="rect">
            <a:avLst/>
          </a:prstGeom>
          <a:noFill/>
        </p:spPr>
        <p:txBody>
          <a:bodyPr wrap="square" lIns="0" rIns="0" tIns="0" bIns="0">
            <a:spAutoFit/>
          </a:bodyPr>
          <a:lstStyle/>
          <a:p>
            <a:pPr algn="l">
              <a:spcAft>
                <a:spcPts val="400"/>
              </a:spcAft>
            </a:pPr>
            <a:r>
              <a:rPr sz="1200" b="0">
                <a:solidFill>
                  <a:srgbClr val="2B2F36"/>
                </a:solidFill>
                <a:latin typeface="Calibri"/>
              </a:rPr>
              <a:t>Technical proposal</a:t>
            </a:r>
          </a:p>
          <a:p>
            <a:pPr algn="l">
              <a:spcAft>
                <a:spcPts val="400"/>
              </a:spcAft>
            </a:pPr>
            <a:r>
              <a:rPr sz="1200" b="0">
                <a:solidFill>
                  <a:srgbClr val="2B2F36"/>
                </a:solidFill>
                <a:latin typeface="Calibri"/>
              </a:rPr>
              <a:t>10xEngineers</a:t>
            </a:r>
          </a:p>
        </p:txBody>
      </p:sp>
      <p:sp>
        <p:nvSpPr>
          <p:cNvPr id="12" name="TextBox 11"/>
          <p:cNvSpPr txBox="1"/>
          <p:nvPr/>
        </p:nvSpPr>
        <p:spPr>
          <a:xfrm>
            <a:off x="7315200" y="5532120"/>
            <a:ext cx="4306824" cy="548640"/>
          </a:xfrm>
          <a:prstGeom prst="rect">
            <a:avLst/>
          </a:prstGeom>
          <a:noFill/>
        </p:spPr>
        <p:txBody>
          <a:bodyPr wrap="square" lIns="0" rIns="0" tIns="0" bIns="0">
            <a:spAutoFit/>
          </a:bodyPr>
          <a:lstStyle/>
          <a:p>
            <a:pPr algn="r">
              <a:spcAft>
                <a:spcPts val="400"/>
              </a:spcAft>
            </a:pPr>
            <a:r>
              <a:rPr sz="1200" b="1">
                <a:solidFill>
                  <a:srgbClr val="0F3057"/>
                </a:solidFill>
                <a:latin typeface="Calibri"/>
              </a:rPr>
              <a:t>15 weeks  ·  2 engineers  ·  USD 32,000</a:t>
            </a:r>
          </a:p>
          <a:p>
            <a:pPr algn="r">
              <a:spcAft>
                <a:spcPts val="400"/>
              </a:spcAft>
            </a:pPr>
            <a:r>
              <a:rPr sz="1200" b="1">
                <a:solidFill>
                  <a:srgbClr val="0F3057"/>
                </a:solidFill>
                <a:latin typeface="Calibri"/>
              </a:rPr>
              <a:t>Apache-2.0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What Sail is, and what it produces</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An executable definition of the architecture — simultaneously the specification, the simulator, and the source of the tests.</a:t>
            </a:r>
          </a:p>
        </p:txBody>
      </p:sp>
      <p:pic>
        <p:nvPicPr>
          <p:cNvPr id="10" name="Picture 9" descr="sail-outputs.png"/>
          <p:cNvPicPr>
            <a:picLocks noChangeAspect="1"/>
          </p:cNvPicPr>
          <p:nvPr/>
        </p:nvPicPr>
        <p:blipFill>
          <a:blip r:embed="rId2"/>
          <a:stretch>
            <a:fillRect/>
          </a:stretch>
        </p:blipFill>
        <p:spPr>
          <a:xfrm>
            <a:off x="1733581" y="1737360"/>
            <a:ext cx="8721789" cy="2331720"/>
          </a:xfrm>
          <a:prstGeom prst="rect">
            <a:avLst/>
          </a:prstGeom>
        </p:spPr>
      </p:pic>
      <p:sp>
        <p:nvSpPr>
          <p:cNvPr id="11" name="TextBox 10"/>
          <p:cNvSpPr txBox="1"/>
          <p:nvPr/>
        </p:nvSpPr>
        <p:spPr>
          <a:xfrm>
            <a:off x="566928" y="4270247"/>
            <a:ext cx="11055096" cy="1188720"/>
          </a:xfrm>
          <a:prstGeom prst="rect">
            <a:avLst/>
          </a:prstGeom>
          <a:noFill/>
        </p:spPr>
        <p:txBody>
          <a:bodyPr wrap="square" lIns="0" rIns="0" tIns="0" bIns="0">
            <a:spAutoFit/>
          </a:bodyPr>
          <a:lstStyle/>
          <a:p>
            <a:pPr algn="l">
              <a:spcAft>
                <a:spcPts val="400"/>
              </a:spcAft>
            </a:pPr>
            <a:r>
              <a:rPr sz="1200" b="0">
                <a:solidFill>
                  <a:srgbClr val="2B2F36"/>
                </a:solidFill>
                <a:latin typeface="Calibri"/>
              </a:rPr>
              <a:t>The same source serves generation and measurement. That is what makes coverage figures meaningful here: the thing being</a:t>
            </a:r>
          </a:p>
          <a:p>
            <a:pPr algn="l">
              <a:spcAft>
                <a:spcPts val="400"/>
              </a:spcAft>
            </a:pPr>
            <a:r>
              <a:rPr sz="1200" b="0">
                <a:solidFill>
                  <a:srgbClr val="2B2F36"/>
                </a:solidFill>
                <a:latin typeface="Calibri"/>
              </a:rPr>
              <a:t>measured and the thing generating the tests are the same definition, not two independent interpretations of a document.</a:t>
            </a:r>
          </a:p>
        </p:txBody>
      </p:sp>
      <p:sp>
        <p:nvSpPr>
          <p:cNvPr id="12" name="TextBox 11"/>
          <p:cNvSpPr txBox="1"/>
          <p:nvPr/>
        </p:nvSpPr>
        <p:spPr>
          <a:xfrm>
            <a:off x="566928" y="5806440"/>
            <a:ext cx="11055096" cy="502920"/>
          </a:xfrm>
          <a:prstGeom prst="rect">
            <a:avLst/>
          </a:prstGeom>
          <a:noFill/>
        </p:spPr>
        <p:txBody>
          <a:bodyPr wrap="square" lIns="0" rIns="0" tIns="0" bIns="0">
            <a:spAutoFit/>
          </a:bodyPr>
          <a:lstStyle/>
          <a:p>
            <a:pPr algn="l">
              <a:spcAft>
                <a:spcPts val="400"/>
              </a:spcAft>
            </a:pPr>
            <a:r>
              <a:rPr sz="1150" b="1">
                <a:solidFill>
                  <a:srgbClr val="0F3057"/>
                </a:solidFill>
                <a:latin typeface="Calibri"/>
              </a:rPr>
              <a:t>Every link back to the model — encodings, expected results, coverage denominator — moves when the architecture moves.</a:t>
            </a:r>
          </a:p>
          <a:p>
            <a:pPr algn="l">
              <a:spcAft>
                <a:spcPts val="400"/>
              </a:spcAft>
            </a:pPr>
            <a:r>
              <a:rPr sz="1150" b="1">
                <a:solidFill>
                  <a:srgbClr val="0F3057"/>
                </a:solidFill>
                <a:latin typeface="Calibri"/>
              </a:rPr>
              <a:t>No table in this framework needs hand-editing when an instruction is added.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2</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How Sail compiles, and why it matters to us</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389888"/>
            <a:ext cx="11055096" cy="786384"/>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44752"/>
            <a:ext cx="1956815" cy="786384"/>
          </a:xfrm>
          <a:prstGeom prst="rect">
            <a:avLst/>
          </a:prstGeom>
          <a:noFill/>
        </p:spPr>
        <p:txBody>
          <a:bodyPr wrap="square" lIns="0" rIns="0" tIns="0" bIns="0">
            <a:spAutoFit/>
          </a:bodyPr>
          <a:lstStyle/>
          <a:p>
            <a:pPr algn="l">
              <a:spcAft>
                <a:spcPts val="400"/>
              </a:spcAft>
            </a:pPr>
            <a:r>
              <a:rPr sz="1150" b="1">
                <a:solidFill>
                  <a:srgbClr val="0F3057"/>
                </a:solidFill>
                <a:latin typeface="Calibri"/>
              </a:rPr>
              <a:t>Step</a:t>
            </a:r>
          </a:p>
        </p:txBody>
      </p:sp>
      <p:sp>
        <p:nvSpPr>
          <p:cNvPr id="11" name="TextBox 10"/>
          <p:cNvSpPr txBox="1"/>
          <p:nvPr/>
        </p:nvSpPr>
        <p:spPr>
          <a:xfrm>
            <a:off x="2761488" y="1444752"/>
            <a:ext cx="4059935" cy="786384"/>
          </a:xfrm>
          <a:prstGeom prst="rect">
            <a:avLst/>
          </a:prstGeom>
          <a:noFill/>
        </p:spPr>
        <p:txBody>
          <a:bodyPr wrap="square" lIns="0" rIns="0" tIns="0" bIns="0">
            <a:spAutoFit/>
          </a:bodyPr>
          <a:lstStyle/>
          <a:p>
            <a:pPr algn="l">
              <a:spcAft>
                <a:spcPts val="400"/>
              </a:spcAft>
            </a:pPr>
            <a:r>
              <a:rPr sz="1150" b="1">
                <a:solidFill>
                  <a:srgbClr val="0F3057"/>
                </a:solidFill>
                <a:latin typeface="Calibri"/>
              </a:rPr>
              <a:t>What happens</a:t>
            </a:r>
          </a:p>
        </p:txBody>
      </p:sp>
      <p:sp>
        <p:nvSpPr>
          <p:cNvPr id="12" name="TextBox 11"/>
          <p:cNvSpPr txBox="1"/>
          <p:nvPr/>
        </p:nvSpPr>
        <p:spPr>
          <a:xfrm>
            <a:off x="6967727" y="1444752"/>
            <a:ext cx="4599432" cy="786384"/>
          </a:xfrm>
          <a:prstGeom prst="rect">
            <a:avLst/>
          </a:prstGeom>
          <a:noFill/>
        </p:spPr>
        <p:txBody>
          <a:bodyPr wrap="square" lIns="0" rIns="0" tIns="0" bIns="0">
            <a:spAutoFit/>
          </a:bodyPr>
          <a:lstStyle/>
          <a:p>
            <a:pPr algn="l">
              <a:spcAft>
                <a:spcPts val="400"/>
              </a:spcAft>
            </a:pPr>
            <a:r>
              <a:rPr sz="1150" b="1">
                <a:solidFill>
                  <a:srgbClr val="0F3057"/>
                </a:solidFill>
                <a:latin typeface="Calibri"/>
              </a:rPr>
              <a:t>Why it matters</a:t>
            </a:r>
          </a:p>
        </p:txBody>
      </p:sp>
      <p:sp>
        <p:nvSpPr>
          <p:cNvPr id="13" name="Rectangle 12"/>
          <p:cNvSpPr/>
          <p:nvPr/>
        </p:nvSpPr>
        <p:spPr>
          <a:xfrm>
            <a:off x="566928" y="2185416"/>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231136"/>
            <a:ext cx="1956815"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Parse and type-check</a:t>
            </a:r>
          </a:p>
        </p:txBody>
      </p:sp>
      <p:sp>
        <p:nvSpPr>
          <p:cNvPr id="15" name="TextBox 14"/>
          <p:cNvSpPr txBox="1"/>
          <p:nvPr/>
        </p:nvSpPr>
        <p:spPr>
          <a:xfrm>
            <a:off x="2761488" y="2231136"/>
            <a:ext cx="4059935"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Types depend on values — a bitvector's width is part of its type</a:t>
            </a:r>
          </a:p>
        </p:txBody>
      </p:sp>
      <p:sp>
        <p:nvSpPr>
          <p:cNvPr id="16" name="TextBox 15"/>
          <p:cNvSpPr txBox="1"/>
          <p:nvPr/>
        </p:nvSpPr>
        <p:spPr>
          <a:xfrm>
            <a:off x="6967727" y="2231136"/>
            <a:ext cx="4599432"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Illegal-width code cannot be written; VLEN must be fixed at compile time</a:t>
            </a:r>
          </a:p>
        </p:txBody>
      </p:sp>
      <p:sp>
        <p:nvSpPr>
          <p:cNvPr id="17" name="Rectangle 16"/>
          <p:cNvSpPr/>
          <p:nvPr/>
        </p:nvSpPr>
        <p:spPr>
          <a:xfrm>
            <a:off x="566928" y="2971800"/>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3017520"/>
            <a:ext cx="1956815"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Lower to JIB</a:t>
            </a:r>
          </a:p>
        </p:txBody>
      </p:sp>
      <p:sp>
        <p:nvSpPr>
          <p:cNvPr id="19" name="TextBox 18"/>
          <p:cNvSpPr txBox="1"/>
          <p:nvPr/>
        </p:nvSpPr>
        <p:spPr>
          <a:xfrm>
            <a:off x="2761488" y="3017520"/>
            <a:ext cx="4059935"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An imperative IR: no pattern matching, no polymorphism, explicit control flow</a:t>
            </a:r>
          </a:p>
        </p:txBody>
      </p:sp>
      <p:sp>
        <p:nvSpPr>
          <p:cNvPr id="20" name="TextBox 19"/>
          <p:cNvSpPr txBox="1"/>
          <p:nvPr/>
        </p:nvSpPr>
        <p:spPr>
          <a:xfrm>
            <a:off x="6967727" y="3017520"/>
            <a:ext cx="4599432"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JIB is what both back ends consume</a:t>
            </a:r>
          </a:p>
        </p:txBody>
      </p:sp>
      <p:sp>
        <p:nvSpPr>
          <p:cNvPr id="21" name="Rectangle 20"/>
          <p:cNvSpPr/>
          <p:nvPr/>
        </p:nvSpPr>
        <p:spPr>
          <a:xfrm>
            <a:off x="566928" y="3758184"/>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3803904"/>
            <a:ext cx="1956815"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C back end</a:t>
            </a:r>
          </a:p>
        </p:txBody>
      </p:sp>
      <p:sp>
        <p:nvSpPr>
          <p:cNvPr id="23" name="TextBox 22"/>
          <p:cNvSpPr txBox="1"/>
          <p:nvPr/>
        </p:nvSpPr>
        <p:spPr>
          <a:xfrm>
            <a:off x="2761488" y="3803904"/>
            <a:ext cx="4059935"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JIB → C → sail_riscv_sim</a:t>
            </a:r>
          </a:p>
        </p:txBody>
      </p:sp>
      <p:sp>
        <p:nvSpPr>
          <p:cNvPr id="24" name="TextBox 23"/>
          <p:cNvSpPr txBox="1"/>
          <p:nvPr/>
        </p:nvSpPr>
        <p:spPr>
          <a:xfrm>
            <a:off x="6967727" y="3803904"/>
            <a:ext cx="4599432"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The executable Golden Model. With -DCOVERAGE=ON it records which spans ran</a:t>
            </a:r>
          </a:p>
        </p:txBody>
      </p:sp>
      <p:sp>
        <p:nvSpPr>
          <p:cNvPr id="25" name="Rectangle 24"/>
          <p:cNvSpPr/>
          <p:nvPr/>
        </p:nvSpPr>
        <p:spPr>
          <a:xfrm>
            <a:off x="566928" y="4544568"/>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590288"/>
            <a:ext cx="1956815"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isla-sail back end</a:t>
            </a:r>
          </a:p>
        </p:txBody>
      </p:sp>
      <p:sp>
        <p:nvSpPr>
          <p:cNvPr id="27" name="TextBox 26"/>
          <p:cNvSpPr txBox="1"/>
          <p:nvPr/>
        </p:nvSpPr>
        <p:spPr>
          <a:xfrm>
            <a:off x="2761488" y="4590288"/>
            <a:ext cx="4059935"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JIB serialised to a .ir text file rather than compiled to C</a:t>
            </a:r>
          </a:p>
        </p:txBody>
      </p:sp>
      <p:sp>
        <p:nvSpPr>
          <p:cNvPr id="28" name="TextBox 27"/>
          <p:cNvSpPr txBox="1"/>
          <p:nvPr/>
        </p:nvSpPr>
        <p:spPr>
          <a:xfrm>
            <a:off x="6967727" y="4590288"/>
            <a:ext cx="4599432" cy="786384"/>
          </a:xfrm>
          <a:prstGeom prst="rect">
            <a:avLst/>
          </a:prstGeom>
          <a:noFill/>
        </p:spPr>
        <p:txBody>
          <a:bodyPr wrap="square" lIns="0" rIns="0" tIns="0" bIns="0">
            <a:spAutoFit/>
          </a:bodyPr>
          <a:lstStyle/>
          <a:p>
            <a:pPr algn="l">
              <a:spcAft>
                <a:spcPts val="400"/>
              </a:spcAft>
            </a:pPr>
            <a:r>
              <a:rPr sz="1150" b="0">
                <a:solidFill>
                  <a:srgbClr val="2B2F36"/>
                </a:solidFill>
                <a:latin typeface="Calibri"/>
              </a:rPr>
              <a:t>Lets isla interpret the model with symbolic values</a:t>
            </a:r>
          </a:p>
        </p:txBody>
      </p:sp>
      <p:sp>
        <p:nvSpPr>
          <p:cNvPr id="29" name="Rectangle 28"/>
          <p:cNvSpPr/>
          <p:nvPr/>
        </p:nvSpPr>
        <p:spPr>
          <a:xfrm>
            <a:off x="566928" y="4828032"/>
            <a:ext cx="11055096" cy="1481328"/>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956048"/>
            <a:ext cx="10607040" cy="1280160"/>
          </a:xfrm>
          <a:prstGeom prst="rect">
            <a:avLst/>
          </a:prstGeom>
          <a:noFill/>
        </p:spPr>
        <p:txBody>
          <a:bodyPr wrap="square" lIns="0" rIns="0" tIns="0" bIns="0">
            <a:spAutoFit/>
          </a:bodyPr>
          <a:lstStyle/>
          <a:p>
            <a:pPr algn="l">
              <a:spcAft>
                <a:spcPts val="400"/>
              </a:spcAft>
            </a:pPr>
            <a:r>
              <a:rPr sz="1150" b="0">
                <a:solidFill>
                  <a:srgbClr val="2B2F36"/>
                </a:solidFill>
                <a:latin typeface="Calibri"/>
              </a:rPr>
              <a:t>Two compile-time facts shape the whole design.  isla-sail is a Sail plugin — it links libsail and registers as a target, so it</a:t>
            </a:r>
          </a:p>
          <a:p>
            <a:pPr algn="l">
              <a:spcAft>
                <a:spcPts val="400"/>
              </a:spcAft>
            </a:pPr>
            <a:r>
              <a:rPr sz="1150" b="0">
                <a:solidFill>
                  <a:srgbClr val="2B2F36"/>
                </a:solidFill>
                <a:latin typeface="Calibri"/>
              </a:rPr>
              <a:t>tracks the same front end as the C build.  And --isla-preserve is mandatory on the entry points: without it they are pruned</a:t>
            </a:r>
          </a:p>
          <a:p>
            <a:pPr algn="l">
              <a:spcAft>
                <a:spcPts val="400"/>
              </a:spcAft>
            </a:pPr>
            <a:r>
              <a:rPr sz="1150" b="0">
                <a:solidFill>
                  <a:srgbClr val="2B2F36"/>
                </a:solidFill>
                <a:latin typeface="Calibri"/>
              </a:rPr>
              <a:t>as dead code and the IR decodes nothing, with no error message.  Configuration is baked in here too — XLEN and VLEN are</a:t>
            </a:r>
          </a:p>
          <a:p>
            <a:pPr algn="l">
              <a:spcAft>
                <a:spcPts val="400"/>
              </a:spcAft>
            </a:pPr>
            <a:r>
              <a:rPr sz="1150" b="0">
                <a:solidFill>
                  <a:srgbClr val="2B2F36"/>
                </a:solidFill>
                <a:latin typeface="Calibri"/>
              </a:rPr>
              <a:t>frozen in the IR, not chosen at run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3</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isla-testgen — solving for the inputs that reach a branch</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Run the model with unknowns in place of register and immediate values. Every branch adds a condition. Hand the result to an SMT solver.</a:t>
            </a:r>
          </a:p>
        </p:txBody>
      </p:sp>
      <p:pic>
        <p:nvPicPr>
          <p:cNvPr id="10" name="Picture 9" descr="isla-internals.png"/>
          <p:cNvPicPr>
            <a:picLocks noChangeAspect="1"/>
          </p:cNvPicPr>
          <p:nvPr/>
        </p:nvPicPr>
        <p:blipFill>
          <a:blip r:embed="rId2"/>
          <a:stretch>
            <a:fillRect/>
          </a:stretch>
        </p:blipFill>
        <p:spPr>
          <a:xfrm>
            <a:off x="2145342" y="1783080"/>
            <a:ext cx="7898266" cy="2880359"/>
          </a:xfrm>
          <a:prstGeom prst="rect">
            <a:avLst/>
          </a:prstGeom>
        </p:spPr>
      </p:pic>
      <p:sp>
        <p:nvSpPr>
          <p:cNvPr id="11" name="TextBox 10"/>
          <p:cNvSpPr txBox="1"/>
          <p:nvPr/>
        </p:nvSpPr>
        <p:spPr>
          <a:xfrm>
            <a:off x="566928" y="4892040"/>
            <a:ext cx="11055096" cy="1097280"/>
          </a:xfrm>
          <a:prstGeom prst="rect">
            <a:avLst/>
          </a:prstGeom>
          <a:noFill/>
        </p:spPr>
        <p:txBody>
          <a:bodyPr wrap="square" lIns="0" rIns="0" tIns="0" bIns="0">
            <a:spAutoFit/>
          </a:bodyPr>
          <a:lstStyle/>
          <a:p>
            <a:pPr algn="l">
              <a:spcAft>
                <a:spcPts val="400"/>
              </a:spcAft>
            </a:pPr>
            <a:r>
              <a:rPr sz="1250" b="1">
                <a:solidFill>
                  <a:srgbClr val="0F3057"/>
                </a:solidFill>
                <a:latin typeface="Calibri"/>
              </a:rPr>
              <a:t>UNSAT is a result, not a failure. It proves a branch cannot be reached — which is what turns an untested span into a</a:t>
            </a:r>
          </a:p>
          <a:p>
            <a:pPr algn="l">
              <a:spcAft>
                <a:spcPts val="400"/>
              </a:spcAft>
            </a:pPr>
            <a:r>
              <a:rPr sz="1250" b="1">
                <a:solidFill>
                  <a:srgbClr val="0F3057"/>
                </a:solidFill>
                <a:latin typeface="Calibri"/>
              </a:rPr>
              <a:t>documented exclusion rather than a permanent, unexplained gap in the coverage figure.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4</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From IR to assembly to ELF</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Solving gives numbers. Turning numbers into a runnable, self-checking program is a separate job.</a:t>
            </a:r>
          </a:p>
        </p:txBody>
      </p:sp>
      <p:sp>
        <p:nvSpPr>
          <p:cNvPr id="10" name="Rectangle 9"/>
          <p:cNvSpPr/>
          <p:nvPr/>
        </p:nvSpPr>
        <p:spPr>
          <a:xfrm>
            <a:off x="566928" y="1481328"/>
            <a:ext cx="11055096" cy="73152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536192"/>
            <a:ext cx="402335" cy="731520"/>
          </a:xfrm>
          <a:prstGeom prst="rect">
            <a:avLst/>
          </a:prstGeom>
          <a:noFill/>
        </p:spPr>
        <p:txBody>
          <a:bodyPr wrap="square" lIns="0" rIns="0" tIns="0" bIns="0">
            <a:spAutoFit/>
          </a:bodyPr>
          <a:lstStyle/>
          <a:p>
            <a:pPr algn="l">
              <a:spcAft>
                <a:spcPts val="400"/>
              </a:spcAft>
            </a:pPr>
            <a:r>
              <a:rPr sz="1150" b="1">
                <a:solidFill>
                  <a:srgbClr val="0F3057"/>
                </a:solidFill>
                <a:latin typeface="Calibri"/>
              </a:rPr>
              <a:t/>
            </a:r>
          </a:p>
        </p:txBody>
      </p:sp>
      <p:sp>
        <p:nvSpPr>
          <p:cNvPr id="12" name="TextBox 11"/>
          <p:cNvSpPr txBox="1"/>
          <p:nvPr/>
        </p:nvSpPr>
        <p:spPr>
          <a:xfrm>
            <a:off x="1207008" y="1536192"/>
            <a:ext cx="2779776" cy="731520"/>
          </a:xfrm>
          <a:prstGeom prst="rect">
            <a:avLst/>
          </a:prstGeom>
          <a:noFill/>
        </p:spPr>
        <p:txBody>
          <a:bodyPr wrap="square" lIns="0" rIns="0" tIns="0" bIns="0">
            <a:spAutoFit/>
          </a:bodyPr>
          <a:lstStyle/>
          <a:p>
            <a:pPr algn="l">
              <a:spcAft>
                <a:spcPts val="400"/>
              </a:spcAft>
            </a:pPr>
            <a:r>
              <a:rPr sz="1150" b="1">
                <a:solidFill>
                  <a:srgbClr val="0F3057"/>
                </a:solidFill>
                <a:latin typeface="Calibri"/>
              </a:rPr>
              <a:t>What is produced</a:t>
            </a:r>
          </a:p>
        </p:txBody>
      </p:sp>
      <p:sp>
        <p:nvSpPr>
          <p:cNvPr id="13" name="TextBox 12"/>
          <p:cNvSpPr txBox="1"/>
          <p:nvPr/>
        </p:nvSpPr>
        <p:spPr>
          <a:xfrm>
            <a:off x="4133087" y="1536192"/>
            <a:ext cx="7434071" cy="731520"/>
          </a:xfrm>
          <a:prstGeom prst="rect">
            <a:avLst/>
          </a:prstGeom>
          <a:noFill/>
        </p:spPr>
        <p:txBody>
          <a:bodyPr wrap="square" lIns="0" rIns="0" tIns="0" bIns="0">
            <a:spAutoFit/>
          </a:bodyPr>
          <a:lstStyle/>
          <a:p>
            <a:pPr algn="l">
              <a:spcAft>
                <a:spcPts val="400"/>
              </a:spcAft>
            </a:pPr>
            <a:r>
              <a:rPr sz="1150" b="1">
                <a:solidFill>
                  <a:srgbClr val="0F3057"/>
                </a:solidFill>
                <a:latin typeface="Calibri"/>
              </a:rPr>
              <a:t>Detail</a:t>
            </a:r>
          </a:p>
        </p:txBody>
      </p:sp>
      <p:sp>
        <p:nvSpPr>
          <p:cNvPr id="14" name="Rectangle 13"/>
          <p:cNvSpPr/>
          <p:nvPr/>
        </p:nvSpPr>
        <p:spPr>
          <a:xfrm>
            <a:off x="566928" y="2221992"/>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267712"/>
            <a:ext cx="402335"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1</a:t>
            </a:r>
          </a:p>
        </p:txBody>
      </p:sp>
      <p:sp>
        <p:nvSpPr>
          <p:cNvPr id="16" name="TextBox 15"/>
          <p:cNvSpPr txBox="1"/>
          <p:nvPr/>
        </p:nvSpPr>
        <p:spPr>
          <a:xfrm>
            <a:off x="1207008" y="2267712"/>
            <a:ext cx="2779776"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Concrete pre- and post-state</a:t>
            </a:r>
          </a:p>
        </p:txBody>
      </p:sp>
      <p:sp>
        <p:nvSpPr>
          <p:cNvPr id="17" name="TextBox 16"/>
          <p:cNvSpPr txBox="1"/>
          <p:nvPr/>
        </p:nvSpPr>
        <p:spPr>
          <a:xfrm>
            <a:off x="4133087" y="2267712"/>
            <a:ext cx="7434071"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extract_state.rs asks the solver for a model and reads out every register and memory region. Nothing symbolic survives</a:t>
            </a:r>
          </a:p>
        </p:txBody>
      </p:sp>
      <p:sp>
        <p:nvSpPr>
          <p:cNvPr id="18" name="Rectangle 17"/>
          <p:cNvSpPr/>
          <p:nvPr/>
        </p:nvSpPr>
        <p:spPr>
          <a:xfrm>
            <a:off x="566928" y="2953512"/>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999232"/>
            <a:ext cx="402335"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2</a:t>
            </a:r>
          </a:p>
        </p:txBody>
      </p:sp>
      <p:sp>
        <p:nvSpPr>
          <p:cNvPr id="20" name="TextBox 19"/>
          <p:cNvSpPr txBox="1"/>
          <p:nvPr/>
        </p:nvSpPr>
        <p:spPr>
          <a:xfrm>
            <a:off x="1207008" y="2999232"/>
            <a:ext cx="2779776"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A .s assembly file</a:t>
            </a:r>
          </a:p>
        </p:txBody>
      </p:sp>
      <p:sp>
        <p:nvSpPr>
          <p:cNvPr id="21" name="TextBox 20"/>
          <p:cNvSpPr txBox="1"/>
          <p:nvPr/>
        </p:nvSpPr>
        <p:spPr>
          <a:xfrm>
            <a:off x="4133087" y="2999232"/>
            <a:ext cx="7434071"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The preamble that builds machine state, the instruction as raw bytes, expected-value tables, a trap handler, pass/fail reporting</a:t>
            </a:r>
          </a:p>
        </p:txBody>
      </p:sp>
      <p:sp>
        <p:nvSpPr>
          <p:cNvPr id="22" name="Rectangle 21"/>
          <p:cNvSpPr/>
          <p:nvPr/>
        </p:nvSpPr>
        <p:spPr>
          <a:xfrm>
            <a:off x="566928" y="3685032"/>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730752"/>
            <a:ext cx="402335"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3</a:t>
            </a:r>
          </a:p>
        </p:txBody>
      </p:sp>
      <p:sp>
        <p:nvSpPr>
          <p:cNvPr id="24" name="TextBox 23"/>
          <p:cNvSpPr txBox="1"/>
          <p:nvPr/>
        </p:nvSpPr>
        <p:spPr>
          <a:xfrm>
            <a:off x="1207008" y="3730752"/>
            <a:ext cx="2779776"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A .ld linker script</a:t>
            </a:r>
          </a:p>
        </p:txBody>
      </p:sp>
      <p:sp>
        <p:nvSpPr>
          <p:cNvPr id="25" name="TextBox 24"/>
          <p:cNvSpPr txBox="1"/>
          <p:nvPr/>
        </p:nvSpPr>
        <p:spPr>
          <a:xfrm>
            <a:off x="4133087" y="3730752"/>
            <a:ext cx="7434071"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Every section pinned at a fixed, non-overlapping address, with ENTRY(preamble)</a:t>
            </a:r>
          </a:p>
        </p:txBody>
      </p:sp>
      <p:sp>
        <p:nvSpPr>
          <p:cNvPr id="26" name="Rectangle 25"/>
          <p:cNvSpPr/>
          <p:nvPr/>
        </p:nvSpPr>
        <p:spPr>
          <a:xfrm>
            <a:off x="566928" y="4416552"/>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4462272"/>
            <a:ext cx="402335"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4</a:t>
            </a:r>
          </a:p>
        </p:txBody>
      </p:sp>
      <p:sp>
        <p:nvSpPr>
          <p:cNvPr id="28" name="TextBox 27"/>
          <p:cNvSpPr txBox="1"/>
          <p:nvPr/>
        </p:nvSpPr>
        <p:spPr>
          <a:xfrm>
            <a:off x="1207008" y="4462272"/>
            <a:ext cx="2779776"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An .elf</a:t>
            </a:r>
          </a:p>
        </p:txBody>
      </p:sp>
      <p:sp>
        <p:nvSpPr>
          <p:cNvPr id="29" name="TextBox 28"/>
          <p:cNvSpPr txBox="1"/>
          <p:nvPr/>
        </p:nvSpPr>
        <p:spPr>
          <a:xfrm>
            <a:off x="4133087" y="4462272"/>
            <a:ext cx="7434071" cy="731520"/>
          </a:xfrm>
          <a:prstGeom prst="rect">
            <a:avLst/>
          </a:prstGeom>
          <a:noFill/>
        </p:spPr>
        <p:txBody>
          <a:bodyPr wrap="square" lIns="0" rIns="0" tIns="0" bIns="0">
            <a:spAutoFit/>
          </a:bodyPr>
          <a:lstStyle/>
          <a:p>
            <a:pPr algn="l">
              <a:spcAft>
                <a:spcPts val="400"/>
              </a:spcAft>
            </a:pPr>
            <a:r>
              <a:rPr sz="1150" b="0">
                <a:solidFill>
                  <a:srgbClr val="2B2F36"/>
                </a:solidFill>
                <a:latin typeface="Calibri"/>
              </a:rPr>
              <a:t>The real GNU assembler and linker are invoked — no bespoke ELF writer</a:t>
            </a:r>
          </a:p>
        </p:txBody>
      </p:sp>
      <p:sp>
        <p:nvSpPr>
          <p:cNvPr id="30" name="Rectangle 29"/>
          <p:cNvSpPr/>
          <p:nvPr/>
        </p:nvSpPr>
        <p:spPr>
          <a:xfrm>
            <a:off x="566928" y="4754880"/>
            <a:ext cx="5394960" cy="150876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919472"/>
            <a:ext cx="4983480" cy="1234440"/>
          </a:xfrm>
          <a:prstGeom prst="rect">
            <a:avLst/>
          </a:prstGeom>
          <a:noFill/>
        </p:spPr>
        <p:txBody>
          <a:bodyPr wrap="square" lIns="0" rIns="0" tIns="0" bIns="0">
            <a:spAutoFit/>
          </a:bodyPr>
          <a:lstStyle/>
          <a:p>
            <a:pPr algn="l">
              <a:spcAft>
                <a:spcPts val="400"/>
              </a:spcAft>
            </a:pPr>
            <a:r>
              <a:rPr sz="1150" b="0">
                <a:solidFill>
                  <a:srgbClr val="2B2F36"/>
                </a:solidFill>
                <a:latin typeface="Calibri"/>
              </a:rPr>
              <a:t>Why raw bytes, not mnemonics</a:t>
            </a:r>
          </a:p>
          <a:p>
            <a:pPr algn="l">
              <a:spcAft>
                <a:spcPts val="400"/>
              </a:spcAft>
            </a:pPr>
            <a:r>
              <a:rPr sz="1150" b="0">
                <a:solidFill>
                  <a:srgbClr val="2B2F36"/>
                </a:solidFill>
                <a:latin typeface="Calibri"/>
              </a:rPr>
              <a:t/>
            </a:r>
          </a:p>
          <a:p>
            <a:pPr algn="l">
              <a:spcAft>
                <a:spcPts val="400"/>
              </a:spcAft>
            </a:pPr>
            <a:r>
              <a:rPr sz="1150" b="0">
                <a:solidFill>
                  <a:srgbClr val="2B2F36"/>
                </a:solidFill>
                <a:latin typeface="Calibri"/>
              </a:rPr>
              <a:t>The test must exercise the exact encoding the model decoded — and it lets the generator emit encodings no assembler accepts,</a:t>
            </a:r>
          </a:p>
          <a:p>
            <a:pPr algn="l">
              <a:spcAft>
                <a:spcPts val="400"/>
              </a:spcAft>
            </a:pPr>
            <a:r>
              <a:rPr sz="1150" b="0">
                <a:solidFill>
                  <a:srgbClr val="2B2F36"/>
                </a:solidFill>
                <a:latin typeface="Calibri"/>
              </a:rPr>
              <a:t>which is how illegal-instruction behaviour gets tested at all.</a:t>
            </a:r>
          </a:p>
        </p:txBody>
      </p:sp>
      <p:sp>
        <p:nvSpPr>
          <p:cNvPr id="32" name="Rectangle 31"/>
          <p:cNvSpPr/>
          <p:nvPr/>
        </p:nvSpPr>
        <p:spPr>
          <a:xfrm>
            <a:off x="6227064" y="4754880"/>
            <a:ext cx="5394960" cy="150876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4919472"/>
            <a:ext cx="4983480" cy="1234440"/>
          </a:xfrm>
          <a:prstGeom prst="rect">
            <a:avLst/>
          </a:prstGeom>
          <a:noFill/>
        </p:spPr>
        <p:txBody>
          <a:bodyPr wrap="square" lIns="0" rIns="0" tIns="0" bIns="0">
            <a:spAutoFit/>
          </a:bodyPr>
          <a:lstStyle/>
          <a:p>
            <a:pPr algn="l">
              <a:spcAft>
                <a:spcPts val="400"/>
              </a:spcAft>
            </a:pPr>
            <a:r>
              <a:rPr sz="1150" b="0">
                <a:solidFill>
                  <a:srgbClr val="2B2F36"/>
                </a:solidFill>
                <a:latin typeface="Calibri"/>
              </a:rPr>
              <a:t>Why the tests check themselves</a:t>
            </a:r>
          </a:p>
          <a:p>
            <a:pPr algn="l">
              <a:spcAft>
                <a:spcPts val="400"/>
              </a:spcAft>
            </a:pPr>
            <a:r>
              <a:rPr sz="1150" b="0">
                <a:solidFill>
                  <a:srgbClr val="2B2F36"/>
                </a:solidFill>
                <a:latin typeface="Calibri"/>
              </a:rPr>
              <a:t/>
            </a:r>
          </a:p>
          <a:p>
            <a:pPr algn="l">
              <a:spcAft>
                <a:spcPts val="400"/>
              </a:spcAft>
            </a:pPr>
            <a:r>
              <a:rPr sz="1150" b="0">
                <a:solidFill>
                  <a:srgbClr val="2B2F36"/>
                </a:solidFill>
                <a:latin typeface="Calibri"/>
              </a:rPr>
              <a:t>Expected values are compiled in as data; the verdict goes out through an HTIF tohost write. So one artefact runs on Sail,</a:t>
            </a:r>
          </a:p>
          <a:p>
            <a:pPr algn="l">
              <a:spcAft>
                <a:spcPts val="400"/>
              </a:spcAft>
            </a:pPr>
            <a:r>
              <a:rPr sz="1150" b="0">
                <a:solidFill>
                  <a:srgbClr val="2B2F36"/>
                </a:solidFill>
                <a:latin typeface="Calibri"/>
              </a:rPr>
              <a:t>Spike, QEMU and RTL with no harness and no wrapper.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5</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What isla-testgen is good at — and what it cannot do</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Both lists come from building on it. The limitations are why this proposal is for a hybrid, not for scaling one engine up.</a:t>
            </a:r>
          </a:p>
        </p:txBody>
      </p:sp>
      <p:sp>
        <p:nvSpPr>
          <p:cNvPr id="10" name="TextBox 9"/>
          <p:cNvSpPr txBox="1"/>
          <p:nvPr/>
        </p:nvSpPr>
        <p:spPr>
          <a:xfrm>
            <a:off x="566928" y="1645920"/>
            <a:ext cx="5394960" cy="274320"/>
          </a:xfrm>
          <a:prstGeom prst="rect">
            <a:avLst/>
          </a:prstGeom>
          <a:noFill/>
        </p:spPr>
        <p:txBody>
          <a:bodyPr wrap="square" lIns="0" rIns="0" tIns="0" bIns="0">
            <a:spAutoFit/>
          </a:bodyPr>
          <a:lstStyle/>
          <a:p>
            <a:pPr algn="l">
              <a:spcAft>
                <a:spcPts val="400"/>
              </a:spcAft>
            </a:pPr>
            <a:r>
              <a:rPr sz="1100" b="1">
                <a:solidFill>
                  <a:srgbClr val="0F7368"/>
                </a:solidFill>
                <a:latin typeface="Calibri"/>
              </a:rPr>
              <a:t>STRENGTHS</a:t>
            </a:r>
          </a:p>
        </p:txBody>
      </p:sp>
      <p:sp>
        <p:nvSpPr>
          <p:cNvPr id="11" name="Rectangle 10"/>
          <p:cNvSpPr/>
          <p:nvPr/>
        </p:nvSpPr>
        <p:spPr>
          <a:xfrm>
            <a:off x="566928" y="1901952"/>
            <a:ext cx="5394960" cy="22860"/>
          </a:xfrm>
          <a:prstGeom prst="rect">
            <a:avLst/>
          </a:prstGeom>
          <a:solidFill>
            <a:srgbClr val="0F7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057400"/>
            <a:ext cx="5394960" cy="3291840"/>
          </a:xfrm>
          <a:prstGeom prst="rect">
            <a:avLst/>
          </a:prstGeom>
          <a:noFill/>
        </p:spPr>
        <p:txBody>
          <a:bodyPr wrap="square" lIns="0" rIns="0" tIns="0" bIns="0">
            <a:spAutoFit/>
          </a:bodyPr>
          <a:lstStyle/>
          <a:p>
            <a:pPr algn="l">
              <a:spcAft>
                <a:spcPts val="800"/>
              </a:spcAft>
            </a:pPr>
            <a:r>
              <a:rPr sz="1150" b="0">
                <a:solidFill>
                  <a:srgbClr val="2B2F36"/>
                </a:solidFill>
                <a:latin typeface="Calibri"/>
              </a:rPr>
              <a:t>Reaches branches on purpose — name one, get a test, or a proof that nothing can</a:t>
            </a:r>
          </a:p>
          <a:p>
            <a:pPr algn="l">
              <a:spcAft>
                <a:spcPts val="800"/>
              </a:spcAft>
            </a:pPr>
            <a:r>
              <a:rPr sz="1150" b="0">
                <a:solidFill>
                  <a:srgbClr val="2B2F36"/>
                </a:solidFill>
                <a:latin typeface="Calibri"/>
              </a:rPr>
              <a:t/>
            </a:r>
          </a:p>
          <a:p>
            <a:pPr algn="l">
              <a:spcAft>
                <a:spcPts val="800"/>
              </a:spcAft>
            </a:pPr>
            <a:r>
              <a:rPr sz="1150" b="0">
                <a:solidFill>
                  <a:srgbClr val="2B2F36"/>
                </a:solidFill>
                <a:latin typeface="Calibri"/>
              </a:rPr>
              <a:t>Proves unreachability — UNSAT turns a permanent gap into a justified exclusion</a:t>
            </a:r>
          </a:p>
          <a:p>
            <a:pPr algn="l">
              <a:spcAft>
                <a:spcPts val="800"/>
              </a:spcAft>
            </a:pPr>
            <a:r>
              <a:rPr sz="1150" b="0">
                <a:solidFill>
                  <a:srgbClr val="2B2F36"/>
                </a:solidFill>
                <a:latin typeface="Calibri"/>
              </a:rPr>
              <a:t/>
            </a:r>
          </a:p>
          <a:p>
            <a:pPr algn="l">
              <a:spcAft>
                <a:spcPts val="800"/>
              </a:spcAft>
            </a:pPr>
            <a:r>
              <a:rPr sz="1150" b="0">
                <a:solidFill>
                  <a:srgbClr val="2B2F36"/>
                </a:solidFill>
                <a:latin typeface="Calibri"/>
              </a:rPr>
              <a:t>Knows the exact final state — the post-state comes from the same solve</a:t>
            </a:r>
          </a:p>
          <a:p>
            <a:pPr algn="l">
              <a:spcAft>
                <a:spcPts val="800"/>
              </a:spcAft>
            </a:pPr>
            <a:r>
              <a:rPr sz="1150" b="0">
                <a:solidFill>
                  <a:srgbClr val="2B2F36"/>
                </a:solidFill>
                <a:latin typeface="Calibri"/>
              </a:rPr>
              <a:t/>
            </a:r>
          </a:p>
          <a:p>
            <a:pPr algn="l">
              <a:spcAft>
                <a:spcPts val="800"/>
              </a:spcAft>
            </a:pPr>
            <a:r>
              <a:rPr sz="1150" b="0">
                <a:solidFill>
                  <a:srgbClr val="2B2F36"/>
                </a:solidFill>
                <a:latin typeface="Calibri"/>
              </a:rPr>
              <a:t>Rare inputs are natural — divide-by-zero, misalignment, boundaries are just constraints</a:t>
            </a:r>
          </a:p>
          <a:p>
            <a:pPr algn="l">
              <a:spcAft>
                <a:spcPts val="800"/>
              </a:spcAft>
            </a:pPr>
            <a:r>
              <a:rPr sz="1150" b="0">
                <a:solidFill>
                  <a:srgbClr val="2B2F36"/>
                </a:solidFill>
                <a:latin typeface="Calibri"/>
              </a:rPr>
              <a:t/>
            </a:r>
          </a:p>
          <a:p>
            <a:pPr algn="l">
              <a:spcAft>
                <a:spcPts val="800"/>
              </a:spcAft>
            </a:pPr>
            <a:r>
              <a:rPr sz="1150" b="0">
                <a:solidFill>
                  <a:srgbClr val="2B2F36"/>
                </a:solidFill>
                <a:latin typeface="Calibri"/>
              </a:rPr>
              <a:t>Tracks the model automatically — instructions and encodings read from the .sail sources</a:t>
            </a:r>
          </a:p>
        </p:txBody>
      </p:sp>
      <p:sp>
        <p:nvSpPr>
          <p:cNvPr id="13" name="TextBox 12"/>
          <p:cNvSpPr txBox="1"/>
          <p:nvPr/>
        </p:nvSpPr>
        <p:spPr>
          <a:xfrm>
            <a:off x="6227064" y="1645920"/>
            <a:ext cx="5394960" cy="274320"/>
          </a:xfrm>
          <a:prstGeom prst="rect">
            <a:avLst/>
          </a:prstGeom>
          <a:noFill/>
        </p:spPr>
        <p:txBody>
          <a:bodyPr wrap="square" lIns="0" rIns="0" tIns="0" bIns="0">
            <a:spAutoFit/>
          </a:bodyPr>
          <a:lstStyle/>
          <a:p>
            <a:pPr algn="l">
              <a:spcAft>
                <a:spcPts val="400"/>
              </a:spcAft>
            </a:pPr>
            <a:r>
              <a:rPr sz="1100" b="1">
                <a:solidFill>
                  <a:srgbClr val="A5372B"/>
                </a:solidFill>
                <a:latin typeface="Calibri"/>
              </a:rPr>
              <a:t>LIMITATIONS</a:t>
            </a:r>
          </a:p>
        </p:txBody>
      </p:sp>
      <p:sp>
        <p:nvSpPr>
          <p:cNvPr id="14" name="Rectangle 13"/>
          <p:cNvSpPr/>
          <p:nvPr/>
        </p:nvSpPr>
        <p:spPr>
          <a:xfrm>
            <a:off x="6227064" y="1901952"/>
            <a:ext cx="5394960" cy="22860"/>
          </a:xfrm>
          <a:prstGeom prst="rect">
            <a:avLst/>
          </a:prstGeom>
          <a:solidFill>
            <a:srgbClr val="A53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7064" y="2057400"/>
            <a:ext cx="5394960" cy="3291840"/>
          </a:xfrm>
          <a:prstGeom prst="rect">
            <a:avLst/>
          </a:prstGeom>
          <a:noFill/>
        </p:spPr>
        <p:txBody>
          <a:bodyPr wrap="square" lIns="0" rIns="0" tIns="0" bIns="0">
            <a:spAutoFit/>
          </a:bodyPr>
          <a:lstStyle/>
          <a:p>
            <a:pPr algn="l">
              <a:spcAft>
                <a:spcPts val="800"/>
              </a:spcAft>
            </a:pPr>
            <a:r>
              <a:rPr sz="1150" b="0">
                <a:solidFill>
                  <a:srgbClr val="2B2F36"/>
                </a:solidFill>
                <a:latin typeface="Calibri"/>
              </a:rPr>
              <a:t>Floating point — SoftFloat is external C; symbolically the operations are holes</a:t>
            </a:r>
          </a:p>
          <a:p>
            <a:pPr algn="l">
              <a:spcAft>
                <a:spcPts val="800"/>
              </a:spcAft>
            </a:pPr>
            <a:r>
              <a:rPr sz="1150" b="0">
                <a:solidFill>
                  <a:srgbClr val="2B2F36"/>
                </a:solidFill>
                <a:latin typeface="Calibri"/>
              </a:rPr>
              <a:t/>
            </a:r>
          </a:p>
          <a:p>
            <a:pPr algn="l">
              <a:spcAft>
                <a:spcPts val="800"/>
              </a:spcAft>
            </a:pPr>
            <a:r>
              <a:rPr sz="1150" b="0">
                <a:solidFill>
                  <a:srgbClr val="2B2F36"/>
                </a:solidFill>
                <a:latin typeface="Calibri"/>
              </a:rPr>
              <a:t>Vector at realistic VLEN — isla's widest bitvector is 129 bits; VLEN 256 and 512 cannot be represented</a:t>
            </a:r>
          </a:p>
          <a:p>
            <a:pPr algn="l">
              <a:spcAft>
                <a:spcPts val="800"/>
              </a:spcAft>
            </a:pPr>
            <a:r>
              <a:rPr sz="1150" b="0">
                <a:solidFill>
                  <a:srgbClr val="2B2F36"/>
                </a:solidFill>
                <a:latin typeface="Calibri"/>
              </a:rPr>
              <a:t/>
            </a:r>
          </a:p>
          <a:p>
            <a:pPr algn="l">
              <a:spcAft>
                <a:spcPts val="800"/>
              </a:spcAft>
            </a:pPr>
            <a:r>
              <a:rPr sz="1150" b="0">
                <a:solidFill>
                  <a:srgbClr val="2B2F36"/>
                </a:solidFill>
                <a:latin typeface="Calibri"/>
              </a:rPr>
              <a:t>Machine state — the solver derives operands, not "put a PMP entry here"</a:t>
            </a:r>
          </a:p>
          <a:p>
            <a:pPr algn="l">
              <a:spcAft>
                <a:spcPts val="800"/>
              </a:spcAft>
            </a:pPr>
            <a:r>
              <a:rPr sz="1150" b="0">
                <a:solidFill>
                  <a:srgbClr val="2B2F36"/>
                </a:solidFill>
                <a:latin typeface="Calibri"/>
              </a:rPr>
              <a:t/>
            </a:r>
          </a:p>
          <a:p>
            <a:pPr algn="l">
              <a:spcAft>
                <a:spcPts val="800"/>
              </a:spcAft>
            </a:pPr>
            <a:r>
              <a:rPr sz="1150" b="0">
                <a:solidFill>
                  <a:srgbClr val="2B2F36"/>
                </a:solidFill>
                <a:latin typeface="Calibri"/>
              </a:rPr>
              <a:t>Control transfers into solved code — unsatisfiable, so privilege changes go in the preamble</a:t>
            </a:r>
          </a:p>
          <a:p>
            <a:pPr algn="l">
              <a:spcAft>
                <a:spcPts val="800"/>
              </a:spcAft>
            </a:pPr>
            <a:r>
              <a:rPr sz="1150" b="0">
                <a:solidFill>
                  <a:srgbClr val="2B2F36"/>
                </a:solidFill>
                <a:latin typeface="Calibri"/>
              </a:rPr>
              <a:t/>
            </a:r>
          </a:p>
          <a:p>
            <a:pPr algn="l">
              <a:spcAft>
                <a:spcPts val="800"/>
              </a:spcAft>
            </a:pPr>
            <a:r>
              <a:rPr sz="1150" b="0">
                <a:solidFill>
                  <a:srgbClr val="2B2F36"/>
                </a:solidFill>
                <a:latin typeface="Calibri"/>
              </a:rPr>
              <a:t>Cost per test — every test is an SMT solve; wrong tool for bulk volume</a:t>
            </a:r>
          </a:p>
        </p:txBody>
      </p:sp>
      <p:sp>
        <p:nvSpPr>
          <p:cNvPr id="16" name="Rectangle 15"/>
          <p:cNvSpPr/>
          <p:nvPr/>
        </p:nvSpPr>
        <p:spPr>
          <a:xfrm>
            <a:off x="566928" y="5440680"/>
            <a:ext cx="11055096" cy="9144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77840"/>
            <a:ext cx="10607040" cy="713232"/>
          </a:xfrm>
          <a:prstGeom prst="rect">
            <a:avLst/>
          </a:prstGeom>
          <a:noFill/>
        </p:spPr>
        <p:txBody>
          <a:bodyPr wrap="square" lIns="0" rIns="0" tIns="0" bIns="0">
            <a:spAutoFit/>
          </a:bodyPr>
          <a:lstStyle/>
          <a:p>
            <a:pPr algn="l">
              <a:spcAft>
                <a:spcPts val="400"/>
              </a:spcAft>
            </a:pPr>
            <a:r>
              <a:rPr sz="1200" b="1">
                <a:solidFill>
                  <a:srgbClr val="0F3057"/>
                </a:solidFill>
                <a:latin typeface="Calibri"/>
              </a:rPr>
              <a:t>isla-testgen is a precision instrument. It is right when you know which branch you want and need to be sure you reached it,</a:t>
            </a:r>
          </a:p>
          <a:p>
            <a:pPr algn="l">
              <a:spcAft>
                <a:spcPts val="400"/>
              </a:spcAft>
            </a:pPr>
            <a:r>
              <a:rPr sz="1200" b="1">
                <a:solidFill>
                  <a:srgbClr val="0F3057"/>
                </a:solidFill>
                <a:latin typeface="Calibri"/>
              </a:rPr>
              <a:t>and wrong when you need many tests, wide configurations, or any part of the model it cannot represent.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6</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The REMS lineage — use the model as an oracle</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The same research programme that produced Sail and isla established the other approach, and it is much older and simpler.</a:t>
            </a:r>
          </a:p>
        </p:txBody>
      </p:sp>
      <p:sp>
        <p:nvSpPr>
          <p:cNvPr id="10" name="TextBox 9"/>
          <p:cNvSpPr txBox="1"/>
          <p:nvPr/>
        </p:nvSpPr>
        <p:spPr>
          <a:xfrm>
            <a:off x="566928" y="1664208"/>
            <a:ext cx="5120640" cy="2651760"/>
          </a:xfrm>
          <a:prstGeom prst="rect">
            <a:avLst/>
          </a:prstGeom>
          <a:noFill/>
        </p:spPr>
        <p:txBody>
          <a:bodyPr wrap="square" lIns="0" rIns="0" tIns="0" bIns="0">
            <a:spAutoFit/>
          </a:bodyPr>
          <a:lstStyle/>
          <a:p>
            <a:pPr algn="l">
              <a:spcAft>
                <a:spcPts val="700"/>
              </a:spcAft>
            </a:pPr>
            <a:r>
              <a:rPr sz="1150" b="0">
                <a:solidFill>
                  <a:srgbClr val="2B2F36"/>
                </a:solidFill>
                <a:latin typeface="Calibri"/>
              </a:rPr>
              <a:t>1.  Pick an instruction and fill its operand fields</a:t>
            </a:r>
          </a:p>
          <a:p>
            <a:pPr algn="l">
              <a:spcAft>
                <a:spcPts val="700"/>
              </a:spcAft>
            </a:pPr>
            <a:r>
              <a:rPr sz="1150" b="0">
                <a:solidFill>
                  <a:srgbClr val="2B2F36"/>
                </a:solidFill>
                <a:latin typeface="Calibri"/>
              </a:rPr>
              <a:t/>
            </a:r>
          </a:p>
          <a:p>
            <a:pPr algn="l">
              <a:spcAft>
                <a:spcPts val="700"/>
              </a:spcAft>
            </a:pPr>
            <a:r>
              <a:rPr sz="1150" b="0">
                <a:solidFill>
                  <a:srgbClr val="2B2F36"/>
                </a:solidFill>
                <a:latin typeface="Calibri"/>
              </a:rPr>
              <a:t>2.  Build a small program that sets up registers, executes it, and stops</a:t>
            </a:r>
          </a:p>
          <a:p>
            <a:pPr algn="l">
              <a:spcAft>
                <a:spcPts val="700"/>
              </a:spcAft>
            </a:pPr>
            <a:r>
              <a:rPr sz="1150" b="0">
                <a:solidFill>
                  <a:srgbClr val="2B2F36"/>
                </a:solidFill>
                <a:latin typeface="Calibri"/>
              </a:rPr>
              <a:t/>
            </a:r>
          </a:p>
          <a:p>
            <a:pPr algn="l">
              <a:spcAft>
                <a:spcPts val="700"/>
              </a:spcAft>
            </a:pPr>
            <a:r>
              <a:rPr sz="1150" b="0">
                <a:solidFill>
                  <a:srgbClr val="2B2F36"/>
                </a:solidFill>
                <a:latin typeface="Calibri"/>
              </a:rPr>
              <a:t>3.  Run it on the model — whatever state comes out is, by definition, correct</a:t>
            </a:r>
          </a:p>
          <a:p>
            <a:pPr algn="l">
              <a:spcAft>
                <a:spcPts val="700"/>
              </a:spcAft>
            </a:pPr>
            <a:r>
              <a:rPr sz="1150" b="0">
                <a:solidFill>
                  <a:srgbClr val="2B2F36"/>
                </a:solidFill>
                <a:latin typeface="Calibri"/>
              </a:rPr>
              <a:t/>
            </a:r>
          </a:p>
          <a:p>
            <a:pPr algn="l">
              <a:spcAft>
                <a:spcPts val="700"/>
              </a:spcAft>
            </a:pPr>
            <a:r>
              <a:rPr sz="1150" b="0">
                <a:solidFill>
                  <a:srgbClr val="2B2F36"/>
                </a:solidFill>
                <a:latin typeface="Calibri"/>
              </a:rPr>
              <a:t>4.  Emit the same program with that state written in as assertions</a:t>
            </a:r>
          </a:p>
          <a:p>
            <a:pPr algn="l">
              <a:spcAft>
                <a:spcPts val="700"/>
              </a:spcAft>
            </a:pPr>
            <a:r>
              <a:rPr sz="1150" b="0">
                <a:solidFill>
                  <a:srgbClr val="2B2F36"/>
                </a:solidFill>
                <a:latin typeface="Calibri"/>
              </a:rPr>
              <a:t/>
            </a:r>
          </a:p>
          <a:p>
            <a:pPr algn="l">
              <a:spcAft>
                <a:spcPts val="700"/>
              </a:spcAft>
            </a:pPr>
            <a:r>
              <a:rPr sz="1150" b="0">
                <a:solidFill>
                  <a:srgbClr val="2B2F36"/>
                </a:solidFill>
                <a:latin typeface="Calibri"/>
              </a:rPr>
              <a:t>5.  Run it anywhere. Any implementation that disagrees with the model fails</a:t>
            </a:r>
          </a:p>
        </p:txBody>
      </p:sp>
      <p:sp>
        <p:nvSpPr>
          <p:cNvPr id="11" name="Rectangle 10"/>
          <p:cNvSpPr/>
          <p:nvPr/>
        </p:nvSpPr>
        <p:spPr>
          <a:xfrm>
            <a:off x="5897880" y="1664208"/>
            <a:ext cx="5724144" cy="384048"/>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20" y="1719072"/>
            <a:ext cx="1554480" cy="384048"/>
          </a:xfrm>
          <a:prstGeom prst="rect">
            <a:avLst/>
          </a:prstGeom>
          <a:noFill/>
        </p:spPr>
        <p:txBody>
          <a:bodyPr wrap="square" lIns="0" rIns="0" tIns="0" bIns="0">
            <a:spAutoFit/>
          </a:bodyPr>
          <a:lstStyle/>
          <a:p>
            <a:pPr algn="l">
              <a:spcAft>
                <a:spcPts val="400"/>
              </a:spcAft>
            </a:pPr>
            <a:r>
              <a:rPr sz="1000" b="1">
                <a:solidFill>
                  <a:srgbClr val="0F3057"/>
                </a:solidFill>
                <a:latin typeface="Calibri"/>
              </a:rPr>
              <a:t/>
            </a:r>
          </a:p>
        </p:txBody>
      </p:sp>
      <p:sp>
        <p:nvSpPr>
          <p:cNvPr id="13" name="TextBox 12"/>
          <p:cNvSpPr txBox="1"/>
          <p:nvPr/>
        </p:nvSpPr>
        <p:spPr>
          <a:xfrm>
            <a:off x="7690104" y="1719072"/>
            <a:ext cx="1737360" cy="384048"/>
          </a:xfrm>
          <a:prstGeom prst="rect">
            <a:avLst/>
          </a:prstGeom>
          <a:noFill/>
        </p:spPr>
        <p:txBody>
          <a:bodyPr wrap="square" lIns="0" rIns="0" tIns="0" bIns="0">
            <a:spAutoFit/>
          </a:bodyPr>
          <a:lstStyle/>
          <a:p>
            <a:pPr algn="l">
              <a:spcAft>
                <a:spcPts val="400"/>
              </a:spcAft>
            </a:pPr>
            <a:r>
              <a:rPr sz="1000" b="1">
                <a:solidFill>
                  <a:srgbClr val="0F3057"/>
                </a:solidFill>
                <a:latin typeface="Calibri"/>
              </a:rPr>
              <a:t>Symbolic</a:t>
            </a:r>
          </a:p>
        </p:txBody>
      </p:sp>
      <p:sp>
        <p:nvSpPr>
          <p:cNvPr id="14" name="TextBox 13"/>
          <p:cNvSpPr txBox="1"/>
          <p:nvPr/>
        </p:nvSpPr>
        <p:spPr>
          <a:xfrm>
            <a:off x="9573768" y="1719072"/>
            <a:ext cx="1993391" cy="384048"/>
          </a:xfrm>
          <a:prstGeom prst="rect">
            <a:avLst/>
          </a:prstGeom>
          <a:noFill/>
        </p:spPr>
        <p:txBody>
          <a:bodyPr wrap="square" lIns="0" rIns="0" tIns="0" bIns="0">
            <a:spAutoFit/>
          </a:bodyPr>
          <a:lstStyle/>
          <a:p>
            <a:pPr algn="l">
              <a:spcAft>
                <a:spcPts val="400"/>
              </a:spcAft>
            </a:pPr>
            <a:r>
              <a:rPr sz="1000" b="1">
                <a:solidFill>
                  <a:srgbClr val="0F3057"/>
                </a:solidFill>
                <a:latin typeface="Calibri"/>
              </a:rPr>
              <a:t>Model-as-oracle</a:t>
            </a:r>
          </a:p>
        </p:txBody>
      </p:sp>
      <p:sp>
        <p:nvSpPr>
          <p:cNvPr id="15" name="Rectangle 14"/>
          <p:cNvSpPr/>
          <p:nvPr/>
        </p:nvSpPr>
        <p:spPr>
          <a:xfrm>
            <a:off x="5897880" y="2057400"/>
            <a:ext cx="5724144"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2103120"/>
            <a:ext cx="155448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Question</a:t>
            </a:r>
          </a:p>
        </p:txBody>
      </p:sp>
      <p:sp>
        <p:nvSpPr>
          <p:cNvPr id="17" name="TextBox 16"/>
          <p:cNvSpPr txBox="1"/>
          <p:nvPr/>
        </p:nvSpPr>
        <p:spPr>
          <a:xfrm>
            <a:off x="7690104" y="2103120"/>
            <a:ext cx="173736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What inputs reach this branch?</a:t>
            </a:r>
          </a:p>
        </p:txBody>
      </p:sp>
      <p:sp>
        <p:nvSpPr>
          <p:cNvPr id="18" name="TextBox 17"/>
          <p:cNvSpPr txBox="1"/>
          <p:nvPr/>
        </p:nvSpPr>
        <p:spPr>
          <a:xfrm>
            <a:off x="9573768" y="2103120"/>
            <a:ext cx="1993391"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What does the model do with these inputs?</a:t>
            </a:r>
          </a:p>
        </p:txBody>
      </p:sp>
      <p:sp>
        <p:nvSpPr>
          <p:cNvPr id="19" name="Rectangle 18"/>
          <p:cNvSpPr/>
          <p:nvPr/>
        </p:nvSpPr>
        <p:spPr>
          <a:xfrm>
            <a:off x="5897880" y="2441448"/>
            <a:ext cx="5724144"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2487168"/>
            <a:ext cx="155448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Needs the model to be</a:t>
            </a:r>
          </a:p>
        </p:txBody>
      </p:sp>
      <p:sp>
        <p:nvSpPr>
          <p:cNvPr id="21" name="TextBox 20"/>
          <p:cNvSpPr txBox="1"/>
          <p:nvPr/>
        </p:nvSpPr>
        <p:spPr>
          <a:xfrm>
            <a:off x="7690104" y="2487168"/>
            <a:ext cx="173736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symbolically interpretable</a:t>
            </a:r>
          </a:p>
        </p:txBody>
      </p:sp>
      <p:sp>
        <p:nvSpPr>
          <p:cNvPr id="22" name="TextBox 21"/>
          <p:cNvSpPr txBox="1"/>
          <p:nvPr/>
        </p:nvSpPr>
        <p:spPr>
          <a:xfrm>
            <a:off x="9573768" y="2487168"/>
            <a:ext cx="1993391"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runnable</a:t>
            </a:r>
          </a:p>
        </p:txBody>
      </p:sp>
      <p:sp>
        <p:nvSpPr>
          <p:cNvPr id="23" name="Rectangle 22"/>
          <p:cNvSpPr/>
          <p:nvPr/>
        </p:nvSpPr>
        <p:spPr>
          <a:xfrm>
            <a:off x="5897880" y="2825496"/>
            <a:ext cx="5724144"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2871215"/>
            <a:ext cx="155448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Cost per test</a:t>
            </a:r>
          </a:p>
        </p:txBody>
      </p:sp>
      <p:sp>
        <p:nvSpPr>
          <p:cNvPr id="25" name="TextBox 24"/>
          <p:cNvSpPr txBox="1"/>
          <p:nvPr/>
        </p:nvSpPr>
        <p:spPr>
          <a:xfrm>
            <a:off x="7690104" y="2871215"/>
            <a:ext cx="173736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An SMT solve</a:t>
            </a:r>
          </a:p>
        </p:txBody>
      </p:sp>
      <p:sp>
        <p:nvSpPr>
          <p:cNvPr id="26" name="TextBox 25"/>
          <p:cNvSpPr txBox="1"/>
          <p:nvPr/>
        </p:nvSpPr>
        <p:spPr>
          <a:xfrm>
            <a:off x="9573768" y="2871215"/>
            <a:ext cx="1993391"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One simulator run</a:t>
            </a:r>
          </a:p>
        </p:txBody>
      </p:sp>
      <p:sp>
        <p:nvSpPr>
          <p:cNvPr id="27" name="Rectangle 26"/>
          <p:cNvSpPr/>
          <p:nvPr/>
        </p:nvSpPr>
        <p:spPr>
          <a:xfrm>
            <a:off x="5897880" y="3209544"/>
            <a:ext cx="5724144"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89320" y="3255263"/>
            <a:ext cx="155448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Reaches deep conditions</a:t>
            </a:r>
          </a:p>
        </p:txBody>
      </p:sp>
      <p:sp>
        <p:nvSpPr>
          <p:cNvPr id="29" name="TextBox 28"/>
          <p:cNvSpPr txBox="1"/>
          <p:nvPr/>
        </p:nvSpPr>
        <p:spPr>
          <a:xfrm>
            <a:off x="7690104" y="3255263"/>
            <a:ext cx="173736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By construction</a:t>
            </a:r>
          </a:p>
        </p:txBody>
      </p:sp>
      <p:sp>
        <p:nvSpPr>
          <p:cNvPr id="30" name="TextBox 29"/>
          <p:cNvSpPr txBox="1"/>
          <p:nvPr/>
        </p:nvSpPr>
        <p:spPr>
          <a:xfrm>
            <a:off x="9573768" y="3255263"/>
            <a:ext cx="1993391"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By luck</a:t>
            </a:r>
          </a:p>
        </p:txBody>
      </p:sp>
      <p:sp>
        <p:nvSpPr>
          <p:cNvPr id="31" name="Rectangle 30"/>
          <p:cNvSpPr/>
          <p:nvPr/>
        </p:nvSpPr>
        <p:spPr>
          <a:xfrm>
            <a:off x="5897880" y="3593591"/>
            <a:ext cx="5724144"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89320" y="3639311"/>
            <a:ext cx="155448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Proves unreachability</a:t>
            </a:r>
          </a:p>
        </p:txBody>
      </p:sp>
      <p:sp>
        <p:nvSpPr>
          <p:cNvPr id="33" name="TextBox 32"/>
          <p:cNvSpPr txBox="1"/>
          <p:nvPr/>
        </p:nvSpPr>
        <p:spPr>
          <a:xfrm>
            <a:off x="7690104" y="3639311"/>
            <a:ext cx="173736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Yes</a:t>
            </a:r>
          </a:p>
        </p:txBody>
      </p:sp>
      <p:sp>
        <p:nvSpPr>
          <p:cNvPr id="34" name="TextBox 33"/>
          <p:cNvSpPr txBox="1"/>
          <p:nvPr/>
        </p:nvSpPr>
        <p:spPr>
          <a:xfrm>
            <a:off x="9573768" y="3639311"/>
            <a:ext cx="1993391"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No</a:t>
            </a:r>
          </a:p>
        </p:txBody>
      </p:sp>
      <p:sp>
        <p:nvSpPr>
          <p:cNvPr id="35" name="Rectangle 34"/>
          <p:cNvSpPr/>
          <p:nvPr/>
        </p:nvSpPr>
        <p:spPr>
          <a:xfrm>
            <a:off x="5897880" y="3977640"/>
            <a:ext cx="5724144"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89320" y="4023360"/>
            <a:ext cx="155448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FP and wide vectors</a:t>
            </a:r>
          </a:p>
        </p:txBody>
      </p:sp>
      <p:sp>
        <p:nvSpPr>
          <p:cNvPr id="37" name="TextBox 36"/>
          <p:cNvSpPr txBox="1"/>
          <p:nvPr/>
        </p:nvSpPr>
        <p:spPr>
          <a:xfrm>
            <a:off x="7690104" y="4023360"/>
            <a:ext cx="173736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No</a:t>
            </a:r>
          </a:p>
        </p:txBody>
      </p:sp>
      <p:sp>
        <p:nvSpPr>
          <p:cNvPr id="38" name="TextBox 37"/>
          <p:cNvSpPr txBox="1"/>
          <p:nvPr/>
        </p:nvSpPr>
        <p:spPr>
          <a:xfrm>
            <a:off x="9573768" y="4023360"/>
            <a:ext cx="1993391"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Yes — it is just execution</a:t>
            </a:r>
          </a:p>
        </p:txBody>
      </p:sp>
      <p:sp>
        <p:nvSpPr>
          <p:cNvPr id="39" name="Rectangle 38"/>
          <p:cNvSpPr/>
          <p:nvPr/>
        </p:nvSpPr>
        <p:spPr>
          <a:xfrm>
            <a:off x="5897880" y="4361688"/>
            <a:ext cx="5724144"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89320" y="4407408"/>
            <a:ext cx="155448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Many configurations</a:t>
            </a:r>
          </a:p>
        </p:txBody>
      </p:sp>
      <p:sp>
        <p:nvSpPr>
          <p:cNvPr id="41" name="TextBox 40"/>
          <p:cNvSpPr txBox="1"/>
          <p:nvPr/>
        </p:nvSpPr>
        <p:spPr>
          <a:xfrm>
            <a:off x="7690104" y="4407408"/>
            <a:ext cx="1737360"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Poorly</a:t>
            </a:r>
          </a:p>
        </p:txBody>
      </p:sp>
      <p:sp>
        <p:nvSpPr>
          <p:cNvPr id="42" name="TextBox 41"/>
          <p:cNvSpPr txBox="1"/>
          <p:nvPr/>
        </p:nvSpPr>
        <p:spPr>
          <a:xfrm>
            <a:off x="9573768" y="4407408"/>
            <a:ext cx="1993391" cy="384048"/>
          </a:xfrm>
          <a:prstGeom prst="rect">
            <a:avLst/>
          </a:prstGeom>
          <a:noFill/>
        </p:spPr>
        <p:txBody>
          <a:bodyPr wrap="square" lIns="0" rIns="0" tIns="0" bIns="0">
            <a:spAutoFit/>
          </a:bodyPr>
          <a:lstStyle/>
          <a:p>
            <a:pPr algn="l">
              <a:spcAft>
                <a:spcPts val="400"/>
              </a:spcAft>
            </a:pPr>
            <a:r>
              <a:rPr sz="1000" b="0">
                <a:solidFill>
                  <a:srgbClr val="2B2F36"/>
                </a:solidFill>
                <a:latin typeface="Calibri"/>
              </a:rPr>
              <a:t>Well</a:t>
            </a:r>
          </a:p>
        </p:txBody>
      </p:sp>
      <p:sp>
        <p:nvSpPr>
          <p:cNvPr id="43" name="Rectangle 42"/>
          <p:cNvSpPr/>
          <p:nvPr/>
        </p:nvSpPr>
        <p:spPr>
          <a:xfrm>
            <a:off x="566928" y="4572000"/>
            <a:ext cx="5120640" cy="173736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4700016"/>
            <a:ext cx="4709160" cy="1481328"/>
          </a:xfrm>
          <a:prstGeom prst="rect">
            <a:avLst/>
          </a:prstGeom>
          <a:noFill/>
        </p:spPr>
        <p:txBody>
          <a:bodyPr wrap="square" lIns="0" rIns="0" tIns="0" bIns="0">
            <a:spAutoFit/>
          </a:bodyPr>
          <a:lstStyle/>
          <a:p>
            <a:pPr algn="l">
              <a:spcAft>
                <a:spcPts val="400"/>
              </a:spcAft>
            </a:pPr>
            <a:r>
              <a:rPr sz="1150" b="0">
                <a:solidFill>
                  <a:srgbClr val="2B2F36"/>
                </a:solidFill>
                <a:latin typeface="Calibri"/>
              </a:rPr>
              <a:t>The REMS OCaml random generator exists but is not a usable base</a:t>
            </a:r>
          </a:p>
          <a:p>
            <a:pPr algn="l">
              <a:spcAft>
                <a:spcPts val="400"/>
              </a:spcAft>
            </a:pPr>
            <a:r>
              <a:rPr sz="1150" b="0">
                <a:solidFill>
                  <a:srgbClr val="2B2F36"/>
                </a:solidFill>
                <a:latin typeface="Calibri"/>
              </a:rPr>
              <a:t/>
            </a:r>
          </a:p>
          <a:p>
            <a:pPr algn="l">
              <a:spcAft>
                <a:spcPts val="400"/>
              </a:spcAft>
            </a:pPr>
            <a:r>
              <a:rPr sz="1150" b="0">
                <a:solidFill>
                  <a:srgbClr val="2B2F36"/>
                </a:solidFill>
                <a:latin typeface="Calibri"/>
              </a:rPr>
              <a:t>Last commit 2019, pinned to a Sail AST shape seven years stale. We took the method and rebuilt it against the current model — which is why our instruction list comes from parsing the model.</a:t>
            </a:r>
          </a:p>
        </p:txBody>
      </p:sp>
      <p:sp>
        <p:nvSpPr>
          <p:cNvPr id="45" name="TextBox 44"/>
          <p:cNvSpPr txBox="1"/>
          <p:nvPr/>
        </p:nvSpPr>
        <p:spPr>
          <a:xfrm>
            <a:off x="5897880" y="4709160"/>
            <a:ext cx="5724144" cy="1554480"/>
          </a:xfrm>
          <a:prstGeom prst="rect">
            <a:avLst/>
          </a:prstGeom>
          <a:noFill/>
        </p:spPr>
        <p:txBody>
          <a:bodyPr wrap="square" lIns="0" rIns="0" tIns="0" bIns="0">
            <a:spAutoFit/>
          </a:bodyPr>
          <a:lstStyle/>
          <a:p>
            <a:pPr algn="l">
              <a:spcAft>
                <a:spcPts val="400"/>
              </a:spcAft>
            </a:pPr>
            <a:r>
              <a:rPr sz="1200" b="1">
                <a:solidFill>
                  <a:srgbClr val="0F3057"/>
                </a:solidFill>
                <a:latin typeface="Calibri"/>
              </a:rPr>
              <a:t>Every row is a mirror image.</a:t>
            </a:r>
          </a:p>
          <a:p>
            <a:pPr algn="l">
              <a:spcAft>
                <a:spcPts val="400"/>
              </a:spcAft>
            </a:pPr>
            <a:r>
              <a:rPr sz="1200" b="1">
                <a:solidFill>
                  <a:srgbClr val="0F3057"/>
                </a:solidFill>
                <a:latin typeface="Calibri"/>
              </a:rPr>
              <a:t/>
            </a:r>
          </a:p>
          <a:p>
            <a:pPr algn="l">
              <a:spcAft>
                <a:spcPts val="400"/>
              </a:spcAft>
            </a:pPr>
            <a:r>
              <a:rPr sz="1200" b="1">
                <a:solidFill>
                  <a:srgbClr val="0F3057"/>
                </a:solidFill>
                <a:latin typeface="Calibri"/>
              </a:rPr>
              <a:t>Each method's weakness is the other's strength, with no overlap in the failure modes. That is unusually clean, and it is the whole argument for combining them rather than picking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7</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Our concrete oracle — the REMS method, rebuilt</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Two deliberate departures: enumerated rather than random, and two ELFs sharing one body.</a:t>
            </a:r>
          </a:p>
        </p:txBody>
      </p:sp>
      <p:pic>
        <p:nvPicPr>
          <p:cNvPr id="10" name="Picture 9" descr="oracle-flow.png"/>
          <p:cNvPicPr>
            <a:picLocks noChangeAspect="1"/>
          </p:cNvPicPr>
          <p:nvPr/>
        </p:nvPicPr>
        <p:blipFill>
          <a:blip r:embed="rId2"/>
          <a:stretch>
            <a:fillRect/>
          </a:stretch>
        </p:blipFill>
        <p:spPr>
          <a:xfrm>
            <a:off x="1787850" y="1691640"/>
            <a:ext cx="8613250" cy="2240280"/>
          </a:xfrm>
          <a:prstGeom prst="rect">
            <a:avLst/>
          </a:prstGeom>
        </p:spPr>
      </p:pic>
      <p:sp>
        <p:nvSpPr>
          <p:cNvPr id="11" name="TextBox 10"/>
          <p:cNvSpPr txBox="1"/>
          <p:nvPr/>
        </p:nvSpPr>
        <p:spPr>
          <a:xfrm>
            <a:off x="566928" y="4160520"/>
            <a:ext cx="5394960" cy="1005840"/>
          </a:xfrm>
          <a:prstGeom prst="rect">
            <a:avLst/>
          </a:prstGeom>
          <a:noFill/>
        </p:spPr>
        <p:txBody>
          <a:bodyPr wrap="square" lIns="0" rIns="0" tIns="0" bIns="0">
            <a:spAutoFit/>
          </a:bodyPr>
          <a:lstStyle/>
          <a:p>
            <a:pPr algn="l">
              <a:spcAft>
                <a:spcPts val="400"/>
              </a:spcAft>
            </a:pPr>
            <a:r>
              <a:rPr sz="1150" b="0">
                <a:solidFill>
                  <a:srgbClr val="2B2F36"/>
                </a:solidFill>
                <a:latin typeface="Calibri"/>
              </a:rPr>
              <a:t>Not random — enumerated</a:t>
            </a:r>
          </a:p>
          <a:p>
            <a:pPr algn="l">
              <a:spcAft>
                <a:spcPts val="400"/>
              </a:spcAft>
            </a:pPr>
            <a:r>
              <a:rPr sz="1150" b="0">
                <a:solidFill>
                  <a:srgbClr val="2B2F36"/>
                </a:solidFill>
                <a:latin typeface="Calibri"/>
              </a:rPr>
              <a:t/>
            </a:r>
          </a:p>
          <a:p>
            <a:pPr algn="l">
              <a:spcAft>
                <a:spcPts val="400"/>
              </a:spcAft>
            </a:pPr>
            <a:r>
              <a:rPr sz="1150" b="0">
                <a:solidFill>
                  <a:srgbClr val="2B2F36"/>
                </a:solidFill>
                <a:latin typeface="Calibri"/>
              </a:rPr>
              <a:t>The instruction list and encodings are parsed from the .sail sources, then swept systematically. Random sampling cannot tell you what it missed; enumeration gives a denominator.</a:t>
            </a:r>
          </a:p>
        </p:txBody>
      </p:sp>
      <p:sp>
        <p:nvSpPr>
          <p:cNvPr id="12" name="TextBox 11"/>
          <p:cNvSpPr txBox="1"/>
          <p:nvPr/>
        </p:nvSpPr>
        <p:spPr>
          <a:xfrm>
            <a:off x="6227064" y="4160520"/>
            <a:ext cx="5394960" cy="1005840"/>
          </a:xfrm>
          <a:prstGeom prst="rect">
            <a:avLst/>
          </a:prstGeom>
          <a:noFill/>
        </p:spPr>
        <p:txBody>
          <a:bodyPr wrap="square" lIns="0" rIns="0" tIns="0" bIns="0">
            <a:spAutoFit/>
          </a:bodyPr>
          <a:lstStyle/>
          <a:p>
            <a:pPr algn="l">
              <a:spcAft>
                <a:spcPts val="400"/>
              </a:spcAft>
            </a:pPr>
            <a:r>
              <a:rPr sz="1150" b="0">
                <a:solidFill>
                  <a:srgbClr val="2B2F36"/>
                </a:solidFill>
                <a:latin typeface="Calibri"/>
              </a:rPr>
              <a:t>Two ELFs, one body</a:t>
            </a:r>
          </a:p>
          <a:p>
            <a:pPr algn="l">
              <a:spcAft>
                <a:spcPts val="400"/>
              </a:spcAft>
            </a:pPr>
            <a:r>
              <a:rPr sz="1150" b="0">
                <a:solidFill>
                  <a:srgbClr val="2B2F36"/>
                </a:solidFill>
                <a:latin typeface="Calibri"/>
              </a:rPr>
              <a:t/>
            </a:r>
          </a:p>
          <a:p>
            <a:pPr algn="l">
              <a:spcAft>
                <a:spcPts val="400"/>
              </a:spcAft>
            </a:pPr>
            <a:r>
              <a:rPr sz="1150" b="0">
                <a:solidFill>
                  <a:srgbClr val="2B2F36"/>
                </a:solidFill>
                <a:latin typeface="Calibri"/>
              </a:rPr>
              <a:t>A probe ELF runs first and prints the result registers; the final ELF is the same program with those values compiled in as assertions. The expected state is observed, never predicted.</a:t>
            </a:r>
          </a:p>
        </p:txBody>
      </p:sp>
      <p:sp>
        <p:nvSpPr>
          <p:cNvPr id="13" name="Rectangle 12"/>
          <p:cNvSpPr/>
          <p:nvPr/>
        </p:nvSpPr>
        <p:spPr>
          <a:xfrm>
            <a:off x="566928" y="5504688"/>
            <a:ext cx="11055096" cy="868680"/>
          </a:xfrm>
          <a:prstGeom prst="rect">
            <a:avLst/>
          </a:prstGeom>
          <a:solidFill>
            <a:srgbClr val="FA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632704"/>
            <a:ext cx="10607040" cy="658368"/>
          </a:xfrm>
          <a:prstGeom prst="rect">
            <a:avLst/>
          </a:prstGeom>
          <a:noFill/>
        </p:spPr>
        <p:txBody>
          <a:bodyPr wrap="square" lIns="0" rIns="0" tIns="0" bIns="0">
            <a:spAutoFit/>
          </a:bodyPr>
          <a:lstStyle/>
          <a:p>
            <a:pPr algn="l">
              <a:spcAft>
                <a:spcPts val="400"/>
              </a:spcAft>
            </a:pPr>
            <a:r>
              <a:rPr sz="1100" b="1">
                <a:solidFill>
                  <a:srgbClr val="A5372B"/>
                </a:solidFill>
                <a:latin typeface="Calibri"/>
              </a:rPr>
              <a:t>The circularity we state openly:  expected values come from sail_riscv_sim, so re-running an oracle test on Sail proves only self-consistency.</a:t>
            </a:r>
          </a:p>
          <a:p>
            <a:pPr algn="l">
              <a:spcAft>
                <a:spcPts val="400"/>
              </a:spcAft>
            </a:pPr>
            <a:r>
              <a:rPr sz="1100" b="1">
                <a:solidFill>
                  <a:srgbClr val="A5372B"/>
                </a:solidFill>
                <a:latin typeface="Calibri"/>
              </a:rPr>
              <a:t>The independent evidence comes from Spike, QEMU or RTL — and every figure says which simulator produced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8</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The proposed framework</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Two generators that fail in opposite directions, and a control layer that decides which one runs, measures what came back, and turns the shortfall into the next batch of work.</a:t>
            </a:r>
          </a:p>
        </p:txBody>
      </p:sp>
      <p:pic>
        <p:nvPicPr>
          <p:cNvPr id="10" name="Picture 9" descr="framework.png"/>
          <p:cNvPicPr>
            <a:picLocks noChangeAspect="1"/>
          </p:cNvPicPr>
          <p:nvPr/>
        </p:nvPicPr>
        <p:blipFill>
          <a:blip r:embed="rId2"/>
          <a:stretch>
            <a:fillRect/>
          </a:stretch>
        </p:blipFill>
        <p:spPr>
          <a:xfrm>
            <a:off x="3023332" y="1783080"/>
            <a:ext cx="6142286" cy="3063240"/>
          </a:xfrm>
          <a:prstGeom prst="rect">
            <a:avLst/>
          </a:prstGeom>
        </p:spPr>
      </p:pic>
      <p:sp>
        <p:nvSpPr>
          <p:cNvPr id="11" name="TextBox 10"/>
          <p:cNvSpPr txBox="1"/>
          <p:nvPr/>
        </p:nvSpPr>
        <p:spPr>
          <a:xfrm>
            <a:off x="566928" y="5102352"/>
            <a:ext cx="11055096" cy="914400"/>
          </a:xfrm>
          <a:prstGeom prst="rect">
            <a:avLst/>
          </a:prstGeom>
          <a:noFill/>
        </p:spPr>
        <p:txBody>
          <a:bodyPr wrap="square" lIns="0" rIns="0" tIns="0" bIns="0">
            <a:spAutoFit/>
          </a:bodyPr>
          <a:lstStyle/>
          <a:p>
            <a:pPr algn="l">
              <a:spcAft>
                <a:spcPts val="400"/>
              </a:spcAft>
            </a:pPr>
            <a:r>
              <a:rPr sz="1250" b="1">
                <a:solidFill>
                  <a:srgbClr val="0F3057"/>
                </a:solidFill>
                <a:latin typeface="Calibri"/>
              </a:rPr>
              <a:t>The dashed return path is what makes this a framework rather than two tools: coverage is not only reported, it is the input that</a:t>
            </a:r>
          </a:p>
          <a:p>
            <a:pPr algn="l">
              <a:spcAft>
                <a:spcPts val="400"/>
              </a:spcAft>
            </a:pPr>
            <a:r>
              <a:rPr sz="1250" b="1">
                <a:solidFill>
                  <a:srgbClr val="0F3057"/>
                </a:solidFill>
                <a:latin typeface="Calibri"/>
              </a:rPr>
              <a:t>decides what gets generated next.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9</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How the control layer operates</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Four jobs — the component that turns "we have two generators" into "we have a method".</a:t>
            </a:r>
          </a:p>
        </p:txBody>
      </p:sp>
      <p:sp>
        <p:nvSpPr>
          <p:cNvPr id="10" name="Rectangle 9"/>
          <p:cNvSpPr/>
          <p:nvPr/>
        </p:nvSpPr>
        <p:spPr>
          <a:xfrm>
            <a:off x="566928" y="1481328"/>
            <a:ext cx="384048" cy="38404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563624"/>
            <a:ext cx="384048" cy="274320"/>
          </a:xfrm>
          <a:prstGeom prst="rect">
            <a:avLst/>
          </a:prstGeom>
          <a:noFill/>
        </p:spPr>
        <p:txBody>
          <a:bodyPr wrap="square" lIns="0" rIns="0" tIns="0" bIns="0">
            <a:spAutoFit/>
          </a:bodyPr>
          <a:lstStyle/>
          <a:p>
            <a:pPr algn="ctr">
              <a:spcAft>
                <a:spcPts val="400"/>
              </a:spcAft>
            </a:pPr>
            <a:r>
              <a:rPr sz="1300" b="1">
                <a:solidFill>
                  <a:srgbClr val="FFFFFF"/>
                </a:solidFill>
                <a:latin typeface="Calibri"/>
              </a:rPr>
              <a:t>1</a:t>
            </a:r>
          </a:p>
        </p:txBody>
      </p:sp>
      <p:sp>
        <p:nvSpPr>
          <p:cNvPr id="12" name="TextBox 11"/>
          <p:cNvSpPr txBox="1"/>
          <p:nvPr/>
        </p:nvSpPr>
        <p:spPr>
          <a:xfrm>
            <a:off x="1097280" y="1499616"/>
            <a:ext cx="2103120" cy="274320"/>
          </a:xfrm>
          <a:prstGeom prst="rect">
            <a:avLst/>
          </a:prstGeom>
          <a:noFill/>
        </p:spPr>
        <p:txBody>
          <a:bodyPr wrap="square" lIns="0" rIns="0" tIns="0" bIns="0">
            <a:spAutoFit/>
          </a:bodyPr>
          <a:lstStyle/>
          <a:p>
            <a:pPr algn="l">
              <a:spcAft>
                <a:spcPts val="400"/>
              </a:spcAft>
            </a:pPr>
            <a:r>
              <a:rPr sz="1250" b="1">
                <a:solidFill>
                  <a:srgbClr val="0F3057"/>
                </a:solidFill>
                <a:latin typeface="Calibri"/>
              </a:rPr>
              <a:t>CONFIGURE</a:t>
            </a:r>
          </a:p>
        </p:txBody>
      </p:sp>
      <p:sp>
        <p:nvSpPr>
          <p:cNvPr id="13" name="TextBox 12"/>
          <p:cNvSpPr txBox="1"/>
          <p:nvPr/>
        </p:nvSpPr>
        <p:spPr>
          <a:xfrm>
            <a:off x="3246120" y="1499616"/>
            <a:ext cx="8375904" cy="914400"/>
          </a:xfrm>
          <a:prstGeom prst="rect">
            <a:avLst/>
          </a:prstGeom>
          <a:noFill/>
        </p:spPr>
        <p:txBody>
          <a:bodyPr wrap="square" lIns="0" rIns="0" tIns="0" bIns="0">
            <a:spAutoFit/>
          </a:bodyPr>
          <a:lstStyle/>
          <a:p>
            <a:pPr algn="l">
              <a:spcAft>
                <a:spcPts val="400"/>
              </a:spcAft>
            </a:pPr>
            <a:r>
              <a:rPr sz="1150" b="0">
                <a:solidFill>
                  <a:srgbClr val="2B2F36"/>
                </a:solidFill>
                <a:latin typeface="Calibri"/>
              </a:rPr>
              <a:t>One Golden Model configuration, parsed once, deriving everything downstream: the IR to load, the assembler's -march, the simulator's ISA string, which extensions exist. Previously re-derived in four places, which is how they drifted apart.</a:t>
            </a:r>
          </a:p>
        </p:txBody>
      </p:sp>
      <p:sp>
        <p:nvSpPr>
          <p:cNvPr id="14" name="Rectangle 13"/>
          <p:cNvSpPr/>
          <p:nvPr/>
        </p:nvSpPr>
        <p:spPr>
          <a:xfrm>
            <a:off x="566928" y="2560320"/>
            <a:ext cx="384048" cy="38404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642615"/>
            <a:ext cx="384048" cy="274320"/>
          </a:xfrm>
          <a:prstGeom prst="rect">
            <a:avLst/>
          </a:prstGeom>
          <a:noFill/>
        </p:spPr>
        <p:txBody>
          <a:bodyPr wrap="square" lIns="0" rIns="0" tIns="0" bIns="0">
            <a:spAutoFit/>
          </a:bodyPr>
          <a:lstStyle/>
          <a:p>
            <a:pPr algn="ctr">
              <a:spcAft>
                <a:spcPts val="400"/>
              </a:spcAft>
            </a:pPr>
            <a:r>
              <a:rPr sz="1300" b="1">
                <a:solidFill>
                  <a:srgbClr val="FFFFFF"/>
                </a:solidFill>
                <a:latin typeface="Calibri"/>
              </a:rPr>
              <a:t>2</a:t>
            </a:r>
          </a:p>
        </p:txBody>
      </p:sp>
      <p:sp>
        <p:nvSpPr>
          <p:cNvPr id="16" name="TextBox 15"/>
          <p:cNvSpPr txBox="1"/>
          <p:nvPr/>
        </p:nvSpPr>
        <p:spPr>
          <a:xfrm>
            <a:off x="1097280" y="2578608"/>
            <a:ext cx="2103120" cy="274320"/>
          </a:xfrm>
          <a:prstGeom prst="rect">
            <a:avLst/>
          </a:prstGeom>
          <a:noFill/>
        </p:spPr>
        <p:txBody>
          <a:bodyPr wrap="square" lIns="0" rIns="0" tIns="0" bIns="0">
            <a:spAutoFit/>
          </a:bodyPr>
          <a:lstStyle/>
          <a:p>
            <a:pPr algn="l">
              <a:spcAft>
                <a:spcPts val="400"/>
              </a:spcAft>
            </a:pPr>
            <a:r>
              <a:rPr sz="1250" b="1">
                <a:solidFill>
                  <a:srgbClr val="0F3057"/>
                </a:solidFill>
                <a:latin typeface="Calibri"/>
              </a:rPr>
              <a:t>ROUTE</a:t>
            </a:r>
          </a:p>
        </p:txBody>
      </p:sp>
      <p:sp>
        <p:nvSpPr>
          <p:cNvPr id="17" name="TextBox 16"/>
          <p:cNvSpPr txBox="1"/>
          <p:nvPr/>
        </p:nvSpPr>
        <p:spPr>
          <a:xfrm>
            <a:off x="3246120" y="2578608"/>
            <a:ext cx="8375904" cy="914400"/>
          </a:xfrm>
          <a:prstGeom prst="rect">
            <a:avLst/>
          </a:prstGeom>
          <a:noFill/>
        </p:spPr>
        <p:txBody>
          <a:bodyPr wrap="square" lIns="0" rIns="0" tIns="0" bIns="0">
            <a:spAutoFit/>
          </a:bodyPr>
          <a:lstStyle/>
          <a:p>
            <a:pPr algn="l">
              <a:spcAft>
                <a:spcPts val="400"/>
              </a:spcAft>
            </a:pPr>
            <a:r>
              <a:rPr sz="1150" b="0">
                <a:solidFill>
                  <a:srgbClr val="2B2F36"/>
                </a:solidFill>
                <a:latin typeface="Calibri"/>
              </a:rPr>
              <a:t>Sends each target to the generator that can reach it. FP arithmetic and wide vectors to the oracle because isla cannot represent them; named privileged branches to isla because random execution reaches them only by luck.</a:t>
            </a:r>
          </a:p>
        </p:txBody>
      </p:sp>
      <p:sp>
        <p:nvSpPr>
          <p:cNvPr id="18" name="Rectangle 17"/>
          <p:cNvSpPr/>
          <p:nvPr/>
        </p:nvSpPr>
        <p:spPr>
          <a:xfrm>
            <a:off x="566928" y="3639311"/>
            <a:ext cx="384048" cy="38404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721607"/>
            <a:ext cx="384048" cy="274320"/>
          </a:xfrm>
          <a:prstGeom prst="rect">
            <a:avLst/>
          </a:prstGeom>
          <a:noFill/>
        </p:spPr>
        <p:txBody>
          <a:bodyPr wrap="square" lIns="0" rIns="0" tIns="0" bIns="0">
            <a:spAutoFit/>
          </a:bodyPr>
          <a:lstStyle/>
          <a:p>
            <a:pPr algn="ctr">
              <a:spcAft>
                <a:spcPts val="400"/>
              </a:spcAft>
            </a:pPr>
            <a:r>
              <a:rPr sz="1300" b="1">
                <a:solidFill>
                  <a:srgbClr val="FFFFFF"/>
                </a:solidFill>
                <a:latin typeface="Calibri"/>
              </a:rPr>
              <a:t>3</a:t>
            </a:r>
          </a:p>
        </p:txBody>
      </p:sp>
      <p:sp>
        <p:nvSpPr>
          <p:cNvPr id="20" name="TextBox 19"/>
          <p:cNvSpPr txBox="1"/>
          <p:nvPr/>
        </p:nvSpPr>
        <p:spPr>
          <a:xfrm>
            <a:off x="1097280" y="3657599"/>
            <a:ext cx="2103120" cy="274320"/>
          </a:xfrm>
          <a:prstGeom prst="rect">
            <a:avLst/>
          </a:prstGeom>
          <a:noFill/>
        </p:spPr>
        <p:txBody>
          <a:bodyPr wrap="square" lIns="0" rIns="0" tIns="0" bIns="0">
            <a:spAutoFit/>
          </a:bodyPr>
          <a:lstStyle/>
          <a:p>
            <a:pPr algn="l">
              <a:spcAft>
                <a:spcPts val="400"/>
              </a:spcAft>
            </a:pPr>
            <a:r>
              <a:rPr sz="1250" b="1">
                <a:solidFill>
                  <a:srgbClr val="0F3057"/>
                </a:solidFill>
                <a:latin typeface="Calibri"/>
              </a:rPr>
              <a:t>EXECUTE &amp; JUDGE</a:t>
            </a:r>
          </a:p>
        </p:txBody>
      </p:sp>
      <p:sp>
        <p:nvSpPr>
          <p:cNvPr id="21" name="TextBox 20"/>
          <p:cNvSpPr txBox="1"/>
          <p:nvPr/>
        </p:nvSpPr>
        <p:spPr>
          <a:xfrm>
            <a:off x="3246120" y="3657599"/>
            <a:ext cx="8375904" cy="914400"/>
          </a:xfrm>
          <a:prstGeom prst="rect">
            <a:avLst/>
          </a:prstGeom>
          <a:noFill/>
        </p:spPr>
        <p:txBody>
          <a:bodyPr wrap="square" lIns="0" rIns="0" tIns="0" bIns="0">
            <a:spAutoFit/>
          </a:bodyPr>
          <a:lstStyle/>
          <a:p>
            <a:pPr algn="l">
              <a:spcAft>
                <a:spcPts val="400"/>
              </a:spcAft>
            </a:pPr>
            <a:r>
              <a:rPr sz="1150" b="0">
                <a:solidFill>
                  <a:srgbClr val="2B2F36"/>
                </a:solidFill>
                <a:latin typeface="Calibri"/>
              </a:rPr>
              <a:t>Runs each ELF on the Golden Model and on at least one independent simulator, then classifies every failure as model fault, framework fault, or correctly routed. A bare pass/fail count is not an acceptable output.</a:t>
            </a:r>
          </a:p>
        </p:txBody>
      </p:sp>
      <p:sp>
        <p:nvSpPr>
          <p:cNvPr id="22" name="Rectangle 21"/>
          <p:cNvSpPr/>
          <p:nvPr/>
        </p:nvSpPr>
        <p:spPr>
          <a:xfrm>
            <a:off x="566928" y="4718303"/>
            <a:ext cx="384048" cy="38404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800599"/>
            <a:ext cx="384048" cy="274320"/>
          </a:xfrm>
          <a:prstGeom prst="rect">
            <a:avLst/>
          </a:prstGeom>
          <a:noFill/>
        </p:spPr>
        <p:txBody>
          <a:bodyPr wrap="square" lIns="0" rIns="0" tIns="0" bIns="0">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1097280" y="4736591"/>
            <a:ext cx="2103120" cy="274320"/>
          </a:xfrm>
          <a:prstGeom prst="rect">
            <a:avLst/>
          </a:prstGeom>
          <a:noFill/>
        </p:spPr>
        <p:txBody>
          <a:bodyPr wrap="square" lIns="0" rIns="0" tIns="0" bIns="0">
            <a:spAutoFit/>
          </a:bodyPr>
          <a:lstStyle/>
          <a:p>
            <a:pPr algn="l">
              <a:spcAft>
                <a:spcPts val="400"/>
              </a:spcAft>
            </a:pPr>
            <a:r>
              <a:rPr sz="1250" b="1">
                <a:solidFill>
                  <a:srgbClr val="0F3057"/>
                </a:solidFill>
                <a:latin typeface="Calibri"/>
              </a:rPr>
              <a:t>MEASURE &amp; RE-PLAN</a:t>
            </a:r>
          </a:p>
        </p:txBody>
      </p:sp>
      <p:sp>
        <p:nvSpPr>
          <p:cNvPr id="25" name="TextBox 24"/>
          <p:cNvSpPr txBox="1"/>
          <p:nvPr/>
        </p:nvSpPr>
        <p:spPr>
          <a:xfrm>
            <a:off x="3246120" y="4736591"/>
            <a:ext cx="8375904" cy="914400"/>
          </a:xfrm>
          <a:prstGeom prst="rect">
            <a:avLst/>
          </a:prstGeom>
          <a:noFill/>
        </p:spPr>
        <p:txBody>
          <a:bodyPr wrap="square" lIns="0" rIns="0" tIns="0" bIns="0">
            <a:spAutoFit/>
          </a:bodyPr>
          <a:lstStyle/>
          <a:p>
            <a:pPr algn="l">
              <a:spcAft>
                <a:spcPts val="400"/>
              </a:spcAft>
            </a:pPr>
            <a:r>
              <a:rPr sz="1150" b="0">
                <a:solidFill>
                  <a:srgbClr val="2B2F36"/>
                </a:solidFill>
                <a:latin typeface="Calibri"/>
              </a:rPr>
              <a:t>Replays the corpus against the instrumented model, reconciles every span to hit / missed / excluded-with-reason, and turns the remainder into a stimulus queue that names what is missing rather than only where.</a:t>
            </a:r>
          </a:p>
        </p:txBody>
      </p:sp>
      <p:sp>
        <p:nvSpPr>
          <p:cNvPr id="26" name="Rectangle 25"/>
          <p:cNvSpPr/>
          <p:nvPr/>
        </p:nvSpPr>
        <p:spPr>
          <a:xfrm>
            <a:off x="566928" y="5614416"/>
            <a:ext cx="11055096" cy="82296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724144"/>
            <a:ext cx="10607040" cy="640080"/>
          </a:xfrm>
          <a:prstGeom prst="rect">
            <a:avLst/>
          </a:prstGeom>
          <a:noFill/>
        </p:spPr>
        <p:txBody>
          <a:bodyPr wrap="square" lIns="0" rIns="0" tIns="0" bIns="0">
            <a:spAutoFit/>
          </a:bodyPr>
          <a:lstStyle/>
          <a:p>
            <a:pPr algn="l">
              <a:spcAft>
                <a:spcPts val="400"/>
              </a:spcAft>
            </a:pPr>
            <a:r>
              <a:rPr sz="1100" b="1">
                <a:solidFill>
                  <a:srgbClr val="0F3057"/>
                </a:solidFill>
                <a:latin typeface="Calibri"/>
              </a:rPr>
              <a:t>One rule above all others:  architectural state is built in the preamble, never solved for.  The solver derives instruction operands; PMP entries,</a:t>
            </a:r>
          </a:p>
          <a:p>
            <a:pPr algn="l">
              <a:spcAft>
                <a:spcPts val="400"/>
              </a:spcAft>
            </a:pPr>
            <a:r>
              <a:rPr sz="1100" b="1">
                <a:solidFill>
                  <a:srgbClr val="0F3057"/>
                </a:solidFill>
                <a:latin typeface="Calibri"/>
              </a:rPr>
              <a:t>page tables and privilege transitions are constructed arithmetically. Attempting the reverse fails outright.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10</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Methodology — the scripts, and what each one does</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Seventeen scripts in python-isla/, in four groups. Each is a single job with a single output, so any one can be run alone when debugging.</a:t>
            </a:r>
          </a:p>
        </p:txBody>
      </p:sp>
      <p:sp>
        <p:nvSpPr>
          <p:cNvPr id="10" name="TextBox 9"/>
          <p:cNvSpPr txBox="1"/>
          <p:nvPr/>
        </p:nvSpPr>
        <p:spPr>
          <a:xfrm>
            <a:off x="566928" y="1572768"/>
            <a:ext cx="2788920" cy="256032"/>
          </a:xfrm>
          <a:prstGeom prst="rect">
            <a:avLst/>
          </a:prstGeom>
          <a:noFill/>
        </p:spPr>
        <p:txBody>
          <a:bodyPr wrap="square" lIns="0" rIns="0" tIns="0" bIns="0">
            <a:spAutoFit/>
          </a:bodyPr>
          <a:lstStyle/>
          <a:p>
            <a:pPr algn="l">
              <a:spcAft>
                <a:spcPts val="400"/>
              </a:spcAft>
            </a:pPr>
            <a:r>
              <a:rPr sz="1050" b="1">
                <a:solidFill>
                  <a:srgbClr val="1A7FC1"/>
                </a:solidFill>
                <a:latin typeface="Calibri"/>
              </a:rPr>
              <a:t>FOUNDATION</a:t>
            </a:r>
          </a:p>
        </p:txBody>
      </p:sp>
      <p:sp>
        <p:nvSpPr>
          <p:cNvPr id="11" name="Rectangle 10"/>
          <p:cNvSpPr/>
          <p:nvPr/>
        </p:nvSpPr>
        <p:spPr>
          <a:xfrm>
            <a:off x="566928" y="1810512"/>
            <a:ext cx="269748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938528"/>
            <a:ext cx="2697480" cy="3931920"/>
          </a:xfrm>
          <a:prstGeom prst="rect">
            <a:avLst/>
          </a:prstGeom>
          <a:noFill/>
        </p:spPr>
        <p:txBody>
          <a:bodyPr wrap="square" lIns="0" rIns="0" tIns="0" bIns="0">
            <a:spAutoFit/>
          </a:bodyPr>
          <a:lstStyle/>
          <a:p>
            <a:pPr algn="l">
              <a:spcAft>
                <a:spcPts val="900"/>
              </a:spcAft>
            </a:pPr>
            <a:r>
              <a:rPr sz="1000" b="0">
                <a:solidFill>
                  <a:srgbClr val="2B2F36"/>
                </a:solidFill>
                <a:latin typeface="Calibri"/>
              </a:rPr>
              <a:t>·  paths.py — where everything lives, resolved once</a:t>
            </a:r>
          </a:p>
          <a:p>
            <a:pPr algn="l">
              <a:spcAft>
                <a:spcPts val="900"/>
              </a:spcAft>
            </a:pPr>
            <a:r>
              <a:rPr sz="1000" b="0">
                <a:solidFill>
                  <a:srgbClr val="2B2F36"/>
                </a:solidFill>
                <a:latin typeface="Calibri"/>
              </a:rPr>
              <a:t>·  model_config.py — one config, parsed once, deriving everything</a:t>
            </a:r>
          </a:p>
          <a:p>
            <a:pPr algn="l">
              <a:spcAft>
                <a:spcPts val="900"/>
              </a:spcAft>
            </a:pPr>
            <a:r>
              <a:rPr sz="1000" b="0">
                <a:solidFill>
                  <a:srgbClr val="2B2F36"/>
                </a:solidFill>
                <a:latin typeface="Calibri"/>
              </a:rPr>
              <a:t>·  model_opcodes.py — encodings straight from the .sail sources</a:t>
            </a:r>
          </a:p>
          <a:p>
            <a:pPr algn="l">
              <a:spcAft>
                <a:spcPts val="900"/>
              </a:spcAft>
            </a:pPr>
            <a:r>
              <a:rPr sz="1000" b="0">
                <a:solidFill>
                  <a:srgbClr val="2B2F36"/>
                </a:solidFill>
                <a:latin typeface="Calibri"/>
              </a:rPr>
              <a:t>·  test_config.py — what each test requires, where a runner can read it</a:t>
            </a:r>
          </a:p>
        </p:txBody>
      </p:sp>
      <p:sp>
        <p:nvSpPr>
          <p:cNvPr id="13" name="TextBox 12"/>
          <p:cNvSpPr txBox="1"/>
          <p:nvPr/>
        </p:nvSpPr>
        <p:spPr>
          <a:xfrm>
            <a:off x="3410712" y="1572768"/>
            <a:ext cx="2788920" cy="256032"/>
          </a:xfrm>
          <a:prstGeom prst="rect">
            <a:avLst/>
          </a:prstGeom>
          <a:noFill/>
        </p:spPr>
        <p:txBody>
          <a:bodyPr wrap="square" lIns="0" rIns="0" tIns="0" bIns="0">
            <a:spAutoFit/>
          </a:bodyPr>
          <a:lstStyle/>
          <a:p>
            <a:pPr algn="l">
              <a:spcAft>
                <a:spcPts val="400"/>
              </a:spcAft>
            </a:pPr>
            <a:r>
              <a:rPr sz="1050" b="1">
                <a:solidFill>
                  <a:srgbClr val="1A7FC1"/>
                </a:solidFill>
                <a:latin typeface="Calibri"/>
              </a:rPr>
              <a:t>GENERATION</a:t>
            </a:r>
          </a:p>
        </p:txBody>
      </p:sp>
      <p:sp>
        <p:nvSpPr>
          <p:cNvPr id="14" name="Rectangle 13"/>
          <p:cNvSpPr/>
          <p:nvPr/>
        </p:nvSpPr>
        <p:spPr>
          <a:xfrm>
            <a:off x="3410712" y="1810512"/>
            <a:ext cx="269748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10712" y="1938528"/>
            <a:ext cx="2697480" cy="3931920"/>
          </a:xfrm>
          <a:prstGeom prst="rect">
            <a:avLst/>
          </a:prstGeom>
          <a:noFill/>
        </p:spPr>
        <p:txBody>
          <a:bodyPr wrap="square" lIns="0" rIns="0" tIns="0" bIns="0">
            <a:spAutoFit/>
          </a:bodyPr>
          <a:lstStyle/>
          <a:p>
            <a:pPr algn="l">
              <a:spcAft>
                <a:spcPts val="900"/>
              </a:spcAft>
            </a:pPr>
            <a:r>
              <a:rPr sz="1000" b="0">
                <a:solidFill>
                  <a:srgbClr val="2B2F36"/>
                </a:solidFill>
                <a:latin typeface="Calibri"/>
              </a:rPr>
              <a:t>·  opcode_sweep.py — per-Sail-file sweep, one instruction at a time</a:t>
            </a:r>
          </a:p>
          <a:p>
            <a:pPr algn="l">
              <a:spcAft>
                <a:spcPts val="900"/>
              </a:spcAft>
            </a:pPr>
            <a:r>
              <a:rPr sz="1000" b="0">
                <a:solidFill>
                  <a:srgbClr val="2B2F36"/>
                </a:solidFill>
                <a:latin typeface="Calibri"/>
              </a:rPr>
              <a:t>·  sweep_all.py — the batch driver across extensions and both XLENs</a:t>
            </a:r>
          </a:p>
          <a:p>
            <a:pPr algn="l">
              <a:spcAft>
                <a:spcPts val="900"/>
              </a:spcAft>
            </a:pPr>
            <a:r>
              <a:rPr sz="1000" b="0">
                <a:solidFill>
                  <a:srgbClr val="2B2F36"/>
                </a:solidFill>
                <a:latin typeface="Calibri"/>
              </a:rPr>
              <a:t>·  sweep_status.py — how far a running sweep has got</a:t>
            </a:r>
          </a:p>
          <a:p>
            <a:pPr algn="l">
              <a:spcAft>
                <a:spcPts val="900"/>
              </a:spcAft>
            </a:pPr>
            <a:r>
              <a:rPr sz="1000" b="0">
                <a:solidFill>
                  <a:srgbClr val="2B2F36"/>
                </a:solidFill>
                <a:latin typeface="Calibri"/>
              </a:rPr>
              <a:t>·  csr_sweep.py — Zicsr across real named CSRs</a:t>
            </a:r>
          </a:p>
          <a:p>
            <a:pPr algn="l">
              <a:spcAft>
                <a:spcPts val="900"/>
              </a:spcAft>
            </a:pPr>
            <a:r>
              <a:rPr sz="1000" b="0">
                <a:solidFill>
                  <a:srgbClr val="2B2F36"/>
                </a:solidFill>
                <a:latin typeface="Calibri"/>
              </a:rPr>
              <a:t>·  scenario_tests.py — the privileged scenarios, each with negative controls</a:t>
            </a:r>
          </a:p>
        </p:txBody>
      </p:sp>
      <p:sp>
        <p:nvSpPr>
          <p:cNvPr id="16" name="TextBox 15"/>
          <p:cNvSpPr txBox="1"/>
          <p:nvPr/>
        </p:nvSpPr>
        <p:spPr>
          <a:xfrm>
            <a:off x="6254496" y="1572768"/>
            <a:ext cx="2788920" cy="256032"/>
          </a:xfrm>
          <a:prstGeom prst="rect">
            <a:avLst/>
          </a:prstGeom>
          <a:noFill/>
        </p:spPr>
        <p:txBody>
          <a:bodyPr wrap="square" lIns="0" rIns="0" tIns="0" bIns="0">
            <a:spAutoFit/>
          </a:bodyPr>
          <a:lstStyle/>
          <a:p>
            <a:pPr algn="l">
              <a:spcAft>
                <a:spcPts val="400"/>
              </a:spcAft>
            </a:pPr>
            <a:r>
              <a:rPr sz="1050" b="1">
                <a:solidFill>
                  <a:srgbClr val="1A7FC1"/>
                </a:solidFill>
                <a:latin typeface="Calibri"/>
              </a:rPr>
              <a:t>MEASUREMENT</a:t>
            </a:r>
          </a:p>
        </p:txBody>
      </p:sp>
      <p:sp>
        <p:nvSpPr>
          <p:cNvPr id="17" name="Rectangle 16"/>
          <p:cNvSpPr/>
          <p:nvPr/>
        </p:nvSpPr>
        <p:spPr>
          <a:xfrm>
            <a:off x="6254496" y="1810512"/>
            <a:ext cx="269748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4496" y="1938528"/>
            <a:ext cx="2697480" cy="3931920"/>
          </a:xfrm>
          <a:prstGeom prst="rect">
            <a:avLst/>
          </a:prstGeom>
          <a:noFill/>
        </p:spPr>
        <p:txBody>
          <a:bodyPr wrap="square" lIns="0" rIns="0" tIns="0" bIns="0">
            <a:spAutoFit/>
          </a:bodyPr>
          <a:lstStyle/>
          <a:p>
            <a:pPr algn="l">
              <a:spcAft>
                <a:spcPts val="900"/>
              </a:spcAft>
            </a:pPr>
            <a:r>
              <a:rPr sz="1000" b="0">
                <a:solidFill>
                  <a:srgbClr val="2B2F36"/>
                </a:solidFill>
                <a:latin typeface="Calibri"/>
              </a:rPr>
              <a:t>·  coverage_report.py — replay the corpus, report Sail branch coverage</a:t>
            </a:r>
          </a:p>
          <a:p>
            <a:pPr algn="l">
              <a:spcAft>
                <a:spcPts val="900"/>
              </a:spcAft>
            </a:pPr>
            <a:r>
              <a:rPr sz="1000" b="0">
                <a:solidFill>
                  <a:srgbClr val="2B2F36"/>
                </a:solidFill>
                <a:latin typeface="Calibri"/>
              </a:rPr>
              <a:t>·  derive_span_exclusions.py — spans no test can reach, with reasons</a:t>
            </a:r>
          </a:p>
          <a:p>
            <a:pPr algn="l">
              <a:spcAft>
                <a:spcPts val="900"/>
              </a:spcAft>
            </a:pPr>
            <a:r>
              <a:rPr sz="1000" b="0">
                <a:solidFill>
                  <a:srgbClr val="2B2F36"/>
                </a:solidFill>
                <a:latin typeface="Calibri"/>
              </a:rPr>
              <a:t>·  coverage_analysis.py — uncovered spans → what stimulus is missing</a:t>
            </a:r>
          </a:p>
          <a:p>
            <a:pPr algn="l">
              <a:spcAft>
                <a:spcPts val="900"/>
              </a:spcAft>
            </a:pPr>
            <a:r>
              <a:rPr sz="1000" b="0">
                <a:solidFill>
                  <a:srgbClr val="2B2F36"/>
                </a:solidFill>
                <a:latin typeface="Calibri"/>
              </a:rPr>
              <a:t>·  coverage_matrix.py — per-instruction status across both generators</a:t>
            </a:r>
          </a:p>
          <a:p>
            <a:pPr algn="l">
              <a:spcAft>
                <a:spcPts val="900"/>
              </a:spcAft>
            </a:pPr>
            <a:r>
              <a:rPr sz="1000" b="0">
                <a:solidFill>
                  <a:srgbClr val="2B2F36"/>
                </a:solidFill>
                <a:latin typeface="Calibri"/>
              </a:rPr>
              <a:t>·  testplan.py / testplan_html.py — a plan derived from the branch structure</a:t>
            </a:r>
          </a:p>
        </p:txBody>
      </p:sp>
      <p:sp>
        <p:nvSpPr>
          <p:cNvPr id="19" name="TextBox 18"/>
          <p:cNvSpPr txBox="1"/>
          <p:nvPr/>
        </p:nvSpPr>
        <p:spPr>
          <a:xfrm>
            <a:off x="9098280" y="1572768"/>
            <a:ext cx="2788920" cy="256032"/>
          </a:xfrm>
          <a:prstGeom prst="rect">
            <a:avLst/>
          </a:prstGeom>
          <a:noFill/>
        </p:spPr>
        <p:txBody>
          <a:bodyPr wrap="square" lIns="0" rIns="0" tIns="0" bIns="0">
            <a:spAutoFit/>
          </a:bodyPr>
          <a:lstStyle/>
          <a:p>
            <a:pPr algn="l">
              <a:spcAft>
                <a:spcPts val="400"/>
              </a:spcAft>
            </a:pPr>
            <a:r>
              <a:rPr sz="1050" b="1">
                <a:solidFill>
                  <a:srgbClr val="1A7FC1"/>
                </a:solidFill>
                <a:latin typeface="Calibri"/>
              </a:rPr>
              <a:t>REPORTING</a:t>
            </a:r>
          </a:p>
        </p:txBody>
      </p:sp>
      <p:sp>
        <p:nvSpPr>
          <p:cNvPr id="20" name="Rectangle 19"/>
          <p:cNvSpPr/>
          <p:nvPr/>
        </p:nvSpPr>
        <p:spPr>
          <a:xfrm>
            <a:off x="9098280" y="1810512"/>
            <a:ext cx="269748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1938528"/>
            <a:ext cx="2697480" cy="3931920"/>
          </a:xfrm>
          <a:prstGeom prst="rect">
            <a:avLst/>
          </a:prstGeom>
          <a:noFill/>
        </p:spPr>
        <p:txBody>
          <a:bodyPr wrap="square" lIns="0" rIns="0" tIns="0" bIns="0">
            <a:spAutoFit/>
          </a:bodyPr>
          <a:lstStyle/>
          <a:p>
            <a:pPr algn="l">
              <a:spcAft>
                <a:spcPts val="900"/>
              </a:spcAft>
            </a:pPr>
            <a:r>
              <a:rPr sz="1000" b="0">
                <a:solidFill>
                  <a:srgbClr val="2B2F36"/>
                </a:solidFill>
                <a:latin typeface="Calibri"/>
              </a:rPr>
              <a:t>·  regression.py — what got worse since the baseline; exits non-zero</a:t>
            </a:r>
          </a:p>
          <a:p>
            <a:pPr algn="l">
              <a:spcAft>
                <a:spcPts val="900"/>
              </a:spcAft>
            </a:pPr>
            <a:r>
              <a:rPr sz="1000" b="0">
                <a:solidFill>
                  <a:srgbClr val="2B2F36"/>
                </a:solidFill>
                <a:latin typeface="Calibri"/>
              </a:rPr>
              <a:t>·  status_report.py — per extension, what failed and whose fault it is</a:t>
            </a:r>
          </a:p>
        </p:txBody>
      </p:sp>
      <p:sp>
        <p:nvSpPr>
          <p:cNvPr id="22" name="Rectangle 21"/>
          <p:cNvSpPr/>
          <p:nvPr/>
        </p:nvSpPr>
        <p:spPr>
          <a:xfrm>
            <a:off x="566928" y="5806440"/>
            <a:ext cx="11055096" cy="621792"/>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916168"/>
            <a:ext cx="10607040" cy="438912"/>
          </a:xfrm>
          <a:prstGeom prst="rect">
            <a:avLst/>
          </a:prstGeom>
          <a:noFill/>
        </p:spPr>
        <p:txBody>
          <a:bodyPr wrap="square" lIns="0" rIns="0" tIns="0" bIns="0">
            <a:spAutoFit/>
          </a:bodyPr>
          <a:lstStyle/>
          <a:p>
            <a:pPr algn="l">
              <a:spcAft>
                <a:spcPts val="400"/>
              </a:spcAft>
            </a:pPr>
            <a:r>
              <a:rPr sz="1150" b="1">
                <a:solidFill>
                  <a:srgbClr val="0F3057"/>
                </a:solidFill>
                <a:latin typeface="Calibri"/>
              </a:rPr>
              <a:t>scenario_tests.py is where privileged coverage lives: tests that set up architectural state rather than exercising one instruction in isolation.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11</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The coverage flow</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The RFP asks for coverage in terms of the Sail code — branches in the specification's own source, not instruction counts.</a:t>
            </a:r>
          </a:p>
        </p:txBody>
      </p:sp>
      <p:pic>
        <p:nvPicPr>
          <p:cNvPr id="10" name="Picture 9" descr="coverage-loop.png"/>
          <p:cNvPicPr>
            <a:picLocks noChangeAspect="1"/>
          </p:cNvPicPr>
          <p:nvPr/>
        </p:nvPicPr>
        <p:blipFill>
          <a:blip r:embed="rId2"/>
          <a:stretch>
            <a:fillRect/>
          </a:stretch>
        </p:blipFill>
        <p:spPr>
          <a:xfrm>
            <a:off x="2042425" y="1691640"/>
            <a:ext cx="8104100" cy="3017520"/>
          </a:xfrm>
          <a:prstGeom prst="rect">
            <a:avLst/>
          </a:prstGeom>
        </p:spPr>
      </p:pic>
      <p:sp>
        <p:nvSpPr>
          <p:cNvPr id="11" name="TextBox 10"/>
          <p:cNvSpPr txBox="1"/>
          <p:nvPr/>
        </p:nvSpPr>
        <p:spPr>
          <a:xfrm>
            <a:off x="566928" y="4910328"/>
            <a:ext cx="11055096" cy="822960"/>
          </a:xfrm>
          <a:prstGeom prst="rect">
            <a:avLst/>
          </a:prstGeom>
          <a:noFill/>
        </p:spPr>
        <p:txBody>
          <a:bodyPr wrap="square" lIns="0" rIns="0" tIns="0" bIns="0">
            <a:spAutoFit/>
          </a:bodyPr>
          <a:lstStyle/>
          <a:p>
            <a:pPr algn="l">
              <a:spcAft>
                <a:spcPts val="400"/>
              </a:spcAft>
            </a:pPr>
            <a:r>
              <a:rPr sz="1200" b="0">
                <a:solidFill>
                  <a:srgbClr val="2B2F36"/>
                </a:solidFill>
                <a:latin typeface="Calibri"/>
              </a:rPr>
              <a:t>Two files do all the work: a manifest of every span the build contains (15,157), and a trace of the spans a run executed. Coverage is the ratio.</a:t>
            </a:r>
          </a:p>
          <a:p>
            <a:pPr algn="l">
              <a:spcAft>
                <a:spcPts val="400"/>
              </a:spcAft>
            </a:pPr>
            <a:r>
              <a:rPr sz="1200" b="0">
                <a:solidFill>
                  <a:srgbClr val="2B2F36"/>
                </a:solidFill>
                <a:latin typeface="Calibri"/>
              </a:rPr>
              <a:t>The third bucket — excluded, with a written reason — is what makes a target of 100% honest rather than impossible.</a:t>
            </a:r>
          </a:p>
        </p:txBody>
      </p:sp>
      <p:sp>
        <p:nvSpPr>
          <p:cNvPr id="12" name="Rectangle 11"/>
          <p:cNvSpPr/>
          <p:nvPr/>
        </p:nvSpPr>
        <p:spPr>
          <a:xfrm>
            <a:off x="566928" y="5687568"/>
            <a:ext cx="11055096" cy="713232"/>
          </a:xfrm>
          <a:prstGeom prst="rect">
            <a:avLst/>
          </a:prstGeom>
          <a:solidFill>
            <a:srgbClr val="F7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97296"/>
            <a:ext cx="10607040" cy="530352"/>
          </a:xfrm>
          <a:prstGeom prst="rect">
            <a:avLst/>
          </a:prstGeom>
          <a:noFill/>
        </p:spPr>
        <p:txBody>
          <a:bodyPr wrap="square" lIns="0" rIns="0" tIns="0" bIns="0">
            <a:spAutoFit/>
          </a:bodyPr>
          <a:lstStyle/>
          <a:p>
            <a:pPr algn="l">
              <a:spcAft>
                <a:spcPts val="400"/>
              </a:spcAft>
            </a:pPr>
            <a:r>
              <a:rPr sz="1150" b="1">
                <a:solidFill>
                  <a:srgbClr val="9A6114"/>
                </a:solidFill>
                <a:latin typeface="Calibri"/>
              </a:rPr>
              <a:t>A percentage is only as good as the run behind it. Span totals are stable; percentages depend on which corpus was replayed — so every figure names its corpus and its date.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12</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The complete flow, file by file</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Each arrow says what that step does. Numbered circles are the control layer's decision points; the long dashed arrow is the loop that closes.</a:t>
            </a:r>
          </a:p>
        </p:txBody>
      </p:sp>
      <p:pic>
        <p:nvPicPr>
          <p:cNvPr id="10" name="Picture 9" descr="pipeline.png"/>
          <p:cNvPicPr>
            <a:picLocks noChangeAspect="1"/>
          </p:cNvPicPr>
          <p:nvPr/>
        </p:nvPicPr>
        <p:blipFill>
          <a:blip r:embed="rId2"/>
          <a:stretch>
            <a:fillRect/>
          </a:stretch>
        </p:blipFill>
        <p:spPr>
          <a:xfrm>
            <a:off x="4336327" y="1417320"/>
            <a:ext cx="3516296"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13</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Running the tests, and riscv-arch-test compliance</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481328"/>
            <a:ext cx="5394960" cy="274320"/>
          </a:xfrm>
          <a:prstGeom prst="rect">
            <a:avLst/>
          </a:prstGeom>
          <a:noFill/>
        </p:spPr>
        <p:txBody>
          <a:bodyPr wrap="square" lIns="0" rIns="0" tIns="0" bIns="0">
            <a:spAutoFit/>
          </a:bodyPr>
          <a:lstStyle/>
          <a:p>
            <a:pPr algn="l">
              <a:spcAft>
                <a:spcPts val="400"/>
              </a:spcAft>
            </a:pPr>
            <a:r>
              <a:rPr sz="1100" b="1">
                <a:solidFill>
                  <a:srgbClr val="1A7FC1"/>
                </a:solidFill>
                <a:latin typeface="Calibri"/>
              </a:rPr>
              <a:t>RUNNING — nothing special is required</a:t>
            </a:r>
          </a:p>
        </p:txBody>
      </p:sp>
      <p:sp>
        <p:nvSpPr>
          <p:cNvPr id="10" name="Rectangle 9"/>
          <p:cNvSpPr/>
          <p:nvPr/>
        </p:nvSpPr>
        <p:spPr>
          <a:xfrm>
            <a:off x="566928" y="1737360"/>
            <a:ext cx="539496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901952"/>
            <a:ext cx="5394960" cy="73152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29968"/>
            <a:ext cx="5074920" cy="502920"/>
          </a:xfrm>
          <a:prstGeom prst="rect">
            <a:avLst/>
          </a:prstGeom>
          <a:noFill/>
        </p:spPr>
        <p:txBody>
          <a:bodyPr wrap="square" lIns="0" rIns="0" tIns="0" bIns="0">
            <a:spAutoFit/>
          </a:bodyPr>
          <a:lstStyle/>
          <a:p>
            <a:pPr algn="l">
              <a:spcAft>
                <a:spcPts val="400"/>
              </a:spcAft>
            </a:pPr>
            <a:r>
              <a:rPr sz="1050" b="0">
                <a:solidFill>
                  <a:srgbClr val="0F3057"/>
                </a:solidFill>
                <a:latin typeface="Consolas"/>
              </a:rPr>
              <a:t>sail_riscv_sim --config &lt;cfg.json&gt;  test.elf</a:t>
            </a:r>
          </a:p>
          <a:p>
            <a:pPr algn="l">
              <a:spcAft>
                <a:spcPts val="400"/>
              </a:spcAft>
            </a:pPr>
            <a:r>
              <a:rPr sz="1050" b="0">
                <a:solidFill>
                  <a:srgbClr val="0F3057"/>
                </a:solidFill>
                <a:latin typeface="Consolas"/>
              </a:rPr>
              <a:t>spike --isa=rv64imac_zicsr        test.elf</a:t>
            </a:r>
          </a:p>
        </p:txBody>
      </p:sp>
      <p:sp>
        <p:nvSpPr>
          <p:cNvPr id="13" name="TextBox 12"/>
          <p:cNvSpPr txBox="1"/>
          <p:nvPr/>
        </p:nvSpPr>
        <p:spPr>
          <a:xfrm>
            <a:off x="566928" y="2788920"/>
            <a:ext cx="5394960" cy="2926080"/>
          </a:xfrm>
          <a:prstGeom prst="rect">
            <a:avLst/>
          </a:prstGeom>
          <a:noFill/>
        </p:spPr>
        <p:txBody>
          <a:bodyPr wrap="square" lIns="0" rIns="0" tIns="0" bIns="0">
            <a:spAutoFit/>
          </a:bodyPr>
          <a:lstStyle/>
          <a:p>
            <a:pPr algn="l">
              <a:spcAft>
                <a:spcPts val="700"/>
              </a:spcAft>
            </a:pPr>
            <a:r>
              <a:rPr sz="1100" b="0">
                <a:solidFill>
                  <a:srgbClr val="2B2F36"/>
                </a:solidFill>
                <a:latin typeface="Calibri"/>
              </a:rPr>
              <a:t>A test is a plain ELF that decides its own verdict.</a:t>
            </a:r>
          </a:p>
          <a:p>
            <a:pPr algn="l">
              <a:spcAft>
                <a:spcPts val="700"/>
              </a:spcAft>
            </a:pPr>
            <a:r>
              <a:rPr sz="1100" b="0">
                <a:solidFill>
                  <a:srgbClr val="2B2F36"/>
                </a:solidFill>
                <a:latin typeface="Calibri"/>
              </a:rPr>
              <a:t/>
            </a:r>
          </a:p>
          <a:p>
            <a:pPr algn="l">
              <a:spcAft>
                <a:spcPts val="700"/>
              </a:spcAft>
            </a:pPr>
            <a:r>
              <a:rPr sz="1100" b="0">
                <a:solidFill>
                  <a:srgbClr val="2B2F36"/>
                </a:solidFill>
                <a:latin typeface="Calibri"/>
              </a:rPr>
              <a:t>Reporting is an HTIF write to tohost — a nonzero odd value halts the simulator, pass and fail encoded exactly as riscv-arch-test's own macros.</a:t>
            </a:r>
          </a:p>
          <a:p>
            <a:pPr algn="l">
              <a:spcAft>
                <a:spcPts val="700"/>
              </a:spcAft>
            </a:pPr>
            <a:r>
              <a:rPr sz="1100" b="0">
                <a:solidFill>
                  <a:srgbClr val="2B2F36"/>
                </a:solidFill>
                <a:latin typeface="Calibri"/>
              </a:rPr>
              <a:t/>
            </a:r>
          </a:p>
          <a:p>
            <a:pPr algn="l">
              <a:spcAft>
                <a:spcPts val="700"/>
              </a:spcAft>
            </a:pPr>
            <a:r>
              <a:rPr sz="1100" b="0">
                <a:solidFill>
                  <a:srgbClr val="2B2F36"/>
                </a:solidFill>
                <a:latin typeface="Calibri"/>
              </a:rPr>
              <a:t>An ecall was tried first and is wrong: that is the syscall-proxy convention, only active under spike pk. On bare metal it traps back into our own handler.</a:t>
            </a:r>
          </a:p>
          <a:p>
            <a:pPr algn="l">
              <a:spcAft>
                <a:spcPts val="700"/>
              </a:spcAft>
            </a:pPr>
            <a:r>
              <a:rPr sz="1100" b="0">
                <a:solidFill>
                  <a:srgbClr val="2B2F36"/>
                </a:solidFill>
                <a:latin typeface="Calibri"/>
              </a:rPr>
              <a:t/>
            </a:r>
          </a:p>
          <a:p>
            <a:pPr algn="l">
              <a:spcAft>
                <a:spcPts val="700"/>
              </a:spcAft>
            </a:pPr>
            <a:r>
              <a:rPr sz="1100" b="0">
                <a:solidFill>
                  <a:srgbClr val="2B2F36"/>
                </a:solidFill>
                <a:latin typeface="Calibri"/>
              </a:rPr>
              <a:t>The ISA string, the -march and the model config all derive from one parsed configuration — a mismatch here is the most common cause of a spurious "Sail and Spike disagree".</a:t>
            </a:r>
          </a:p>
        </p:txBody>
      </p:sp>
      <p:sp>
        <p:nvSpPr>
          <p:cNvPr id="14" name="TextBox 13"/>
          <p:cNvSpPr txBox="1"/>
          <p:nvPr/>
        </p:nvSpPr>
        <p:spPr>
          <a:xfrm>
            <a:off x="6227064" y="1481328"/>
            <a:ext cx="5394960" cy="274320"/>
          </a:xfrm>
          <a:prstGeom prst="rect">
            <a:avLst/>
          </a:prstGeom>
          <a:noFill/>
        </p:spPr>
        <p:txBody>
          <a:bodyPr wrap="square" lIns="0" rIns="0" tIns="0" bIns="0">
            <a:spAutoFit/>
          </a:bodyPr>
          <a:lstStyle/>
          <a:p>
            <a:pPr algn="l">
              <a:spcAft>
                <a:spcPts val="400"/>
              </a:spcAft>
            </a:pPr>
            <a:r>
              <a:rPr sz="1100" b="1">
                <a:solidFill>
                  <a:srgbClr val="1A7FC1"/>
                </a:solidFill>
                <a:latin typeface="Calibri"/>
              </a:rPr>
              <a:t>ACT4 COMPLIANCE — six steps, all implemented</a:t>
            </a:r>
          </a:p>
        </p:txBody>
      </p:sp>
      <p:sp>
        <p:nvSpPr>
          <p:cNvPr id="15" name="Rectangle 14"/>
          <p:cNvSpPr/>
          <p:nvPr/>
        </p:nvSpPr>
        <p:spPr>
          <a:xfrm>
            <a:off x="6227064" y="1737360"/>
            <a:ext cx="539496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27064" y="1920240"/>
            <a:ext cx="274320" cy="274320"/>
          </a:xfrm>
          <a:prstGeom prst="rect">
            <a:avLst/>
          </a:prstGeom>
          <a:noFill/>
        </p:spPr>
        <p:txBody>
          <a:bodyPr wrap="square" lIns="0" rIns="0" tIns="0" bIns="0">
            <a:spAutoFit/>
          </a:bodyPr>
          <a:lstStyle/>
          <a:p>
            <a:pPr algn="l">
              <a:spcAft>
                <a:spcPts val="400"/>
              </a:spcAft>
            </a:pPr>
            <a:r>
              <a:rPr sz="1150" b="1">
                <a:solidFill>
                  <a:srgbClr val="1A7FC1"/>
                </a:solidFill>
                <a:latin typeface="Calibri"/>
              </a:rPr>
              <a:t>1</a:t>
            </a:r>
          </a:p>
        </p:txBody>
      </p:sp>
      <p:sp>
        <p:nvSpPr>
          <p:cNvPr id="17" name="TextBox 16"/>
          <p:cNvSpPr txBox="1"/>
          <p:nvPr/>
        </p:nvSpPr>
        <p:spPr>
          <a:xfrm>
            <a:off x="6547104" y="1920240"/>
            <a:ext cx="5074920" cy="548640"/>
          </a:xfrm>
          <a:prstGeom prst="rect">
            <a:avLst/>
          </a:prstGeom>
          <a:noFill/>
        </p:spPr>
        <p:txBody>
          <a:bodyPr wrap="square" lIns="0" rIns="0" tIns="0" bIns="0">
            <a:spAutoFit/>
          </a:bodyPr>
          <a:lstStyle/>
          <a:p>
            <a:pPr algn="l">
              <a:spcAft>
                <a:spcPts val="400"/>
              </a:spcAft>
            </a:pPr>
            <a:r>
              <a:rPr sz="1100" b="0">
                <a:solidFill>
                  <a:srgbClr val="2B2F36"/>
                </a:solidFill>
                <a:latin typeface="Calibri"/>
              </a:rPr>
              <a:t>Cross-check our isla-sail compile config against ACT4's own sail.json</a:t>
            </a:r>
          </a:p>
        </p:txBody>
      </p:sp>
      <p:sp>
        <p:nvSpPr>
          <p:cNvPr id="18" name="TextBox 17"/>
          <p:cNvSpPr txBox="1"/>
          <p:nvPr/>
        </p:nvSpPr>
        <p:spPr>
          <a:xfrm>
            <a:off x="6227064" y="2487168"/>
            <a:ext cx="274320" cy="274320"/>
          </a:xfrm>
          <a:prstGeom prst="rect">
            <a:avLst/>
          </a:prstGeom>
          <a:noFill/>
        </p:spPr>
        <p:txBody>
          <a:bodyPr wrap="square" lIns="0" rIns="0" tIns="0" bIns="0">
            <a:spAutoFit/>
          </a:bodyPr>
          <a:lstStyle/>
          <a:p>
            <a:pPr algn="l">
              <a:spcAft>
                <a:spcPts val="400"/>
              </a:spcAft>
            </a:pPr>
            <a:r>
              <a:rPr sz="1150" b="1">
                <a:solidFill>
                  <a:srgbClr val="1A7FC1"/>
                </a:solidFill>
                <a:latin typeface="Calibri"/>
              </a:rPr>
              <a:t>2</a:t>
            </a:r>
          </a:p>
        </p:txBody>
      </p:sp>
      <p:sp>
        <p:nvSpPr>
          <p:cNvPr id="19" name="TextBox 18"/>
          <p:cNvSpPr txBox="1"/>
          <p:nvPr/>
        </p:nvSpPr>
        <p:spPr>
          <a:xfrm>
            <a:off x="6547104" y="2487168"/>
            <a:ext cx="5074920" cy="548640"/>
          </a:xfrm>
          <a:prstGeom prst="rect">
            <a:avLst/>
          </a:prstGeom>
          <a:noFill/>
        </p:spPr>
        <p:txBody>
          <a:bodyPr wrap="square" lIns="0" rIns="0" tIns="0" bIns="0">
            <a:spAutoFit/>
          </a:bodyPr>
          <a:lstStyle/>
          <a:p>
            <a:pPr algn="l">
              <a:spcAft>
                <a:spcPts val="400"/>
              </a:spcAft>
            </a:pPr>
            <a:r>
              <a:rPr sz="1100" b="0">
                <a:solidFill>
                  <a:srgbClr val="2B2F36"/>
                </a:solidFill>
                <a:latin typeface="Calibri"/>
              </a:rPr>
              <a:t>Adopt ACT4's exact tohost/fromhost declaration — a real, sized, backed section</a:t>
            </a:r>
          </a:p>
        </p:txBody>
      </p:sp>
      <p:sp>
        <p:nvSpPr>
          <p:cNvPr id="20" name="TextBox 19"/>
          <p:cNvSpPr txBox="1"/>
          <p:nvPr/>
        </p:nvSpPr>
        <p:spPr>
          <a:xfrm>
            <a:off x="6227064" y="3054096"/>
            <a:ext cx="274320" cy="274320"/>
          </a:xfrm>
          <a:prstGeom prst="rect">
            <a:avLst/>
          </a:prstGeom>
          <a:noFill/>
        </p:spPr>
        <p:txBody>
          <a:bodyPr wrap="square" lIns="0" rIns="0" tIns="0" bIns="0">
            <a:spAutoFit/>
          </a:bodyPr>
          <a:lstStyle/>
          <a:p>
            <a:pPr algn="l">
              <a:spcAft>
                <a:spcPts val="400"/>
              </a:spcAft>
            </a:pPr>
            <a:r>
              <a:rPr sz="1150" b="1">
                <a:solidFill>
                  <a:srgbClr val="1A7FC1"/>
                </a:solidFill>
                <a:latin typeface="Calibri"/>
              </a:rPr>
              <a:t>3</a:t>
            </a:r>
          </a:p>
        </p:txBody>
      </p:sp>
      <p:sp>
        <p:nvSpPr>
          <p:cNvPr id="21" name="TextBox 20"/>
          <p:cNvSpPr txBox="1"/>
          <p:nvPr/>
        </p:nvSpPr>
        <p:spPr>
          <a:xfrm>
            <a:off x="6547104" y="3054096"/>
            <a:ext cx="5074920" cy="548640"/>
          </a:xfrm>
          <a:prstGeom prst="rect">
            <a:avLst/>
          </a:prstGeom>
          <a:noFill/>
        </p:spPr>
        <p:txBody>
          <a:bodyPr wrap="square" lIns="0" rIns="0" tIns="0" bIns="0">
            <a:spAutoFit/>
          </a:bodyPr>
          <a:lstStyle/>
          <a:p>
            <a:pPr algn="l">
              <a:spcAft>
                <a:spcPts val="400"/>
              </a:spcAft>
            </a:pPr>
            <a:r>
              <a:rPr sz="1100" b="0">
                <a:solidFill>
                  <a:srgbClr val="2B2F36"/>
                </a:solidFill>
                <a:latin typeface="Calibri"/>
              </a:rPr>
              <a:t>Optional begin_signature / end_signature region behind a flag</a:t>
            </a:r>
          </a:p>
        </p:txBody>
      </p:sp>
      <p:sp>
        <p:nvSpPr>
          <p:cNvPr id="22" name="TextBox 21"/>
          <p:cNvSpPr txBox="1"/>
          <p:nvPr/>
        </p:nvSpPr>
        <p:spPr>
          <a:xfrm>
            <a:off x="6227064" y="3621024"/>
            <a:ext cx="274320" cy="274320"/>
          </a:xfrm>
          <a:prstGeom prst="rect">
            <a:avLst/>
          </a:prstGeom>
          <a:noFill/>
        </p:spPr>
        <p:txBody>
          <a:bodyPr wrap="square" lIns="0" rIns="0" tIns="0" bIns="0">
            <a:spAutoFit/>
          </a:bodyPr>
          <a:lstStyle/>
          <a:p>
            <a:pPr algn="l">
              <a:spcAft>
                <a:spcPts val="400"/>
              </a:spcAft>
            </a:pPr>
            <a:r>
              <a:rPr sz="1150" b="1">
                <a:solidFill>
                  <a:srgbClr val="1A7FC1"/>
                </a:solidFill>
                <a:latin typeface="Calibri"/>
              </a:rPr>
              <a:t>4</a:t>
            </a:r>
          </a:p>
        </p:txBody>
      </p:sp>
      <p:sp>
        <p:nvSpPr>
          <p:cNvPr id="23" name="TextBox 22"/>
          <p:cNvSpPr txBox="1"/>
          <p:nvPr/>
        </p:nvSpPr>
        <p:spPr>
          <a:xfrm>
            <a:off x="6547104" y="3621024"/>
            <a:ext cx="5074920" cy="548640"/>
          </a:xfrm>
          <a:prstGeom prst="rect">
            <a:avLst/>
          </a:prstGeom>
          <a:noFill/>
        </p:spPr>
        <p:txBody>
          <a:bodyPr wrap="square" lIns="0" rIns="0" tIns="0" bIns="0">
            <a:spAutoFit/>
          </a:bodyPr>
          <a:lstStyle/>
          <a:p>
            <a:pPr algn="l">
              <a:spcAft>
                <a:spcPts val="400"/>
              </a:spcAft>
            </a:pPr>
            <a:r>
              <a:rPr sz="1100" b="0">
                <a:solidFill>
                  <a:srgbClr val="2B2F36"/>
                </a:solidFill>
                <a:latin typeface="Calibri"/>
              </a:rPr>
              <a:t>START_TEST_CONFIG / END_TEST_CONFIG header for test discovery</a:t>
            </a:r>
          </a:p>
        </p:txBody>
      </p:sp>
      <p:sp>
        <p:nvSpPr>
          <p:cNvPr id="24" name="TextBox 23"/>
          <p:cNvSpPr txBox="1"/>
          <p:nvPr/>
        </p:nvSpPr>
        <p:spPr>
          <a:xfrm>
            <a:off x="6227064" y="4187952"/>
            <a:ext cx="274320" cy="274320"/>
          </a:xfrm>
          <a:prstGeom prst="rect">
            <a:avLst/>
          </a:prstGeom>
          <a:noFill/>
        </p:spPr>
        <p:txBody>
          <a:bodyPr wrap="square" lIns="0" rIns="0" tIns="0" bIns="0">
            <a:spAutoFit/>
          </a:bodyPr>
          <a:lstStyle/>
          <a:p>
            <a:pPr algn="l">
              <a:spcAft>
                <a:spcPts val="400"/>
              </a:spcAft>
            </a:pPr>
            <a:r>
              <a:rPr sz="1150" b="1">
                <a:solidFill>
                  <a:srgbClr val="1A7FC1"/>
                </a:solidFill>
                <a:latin typeface="Calibri"/>
              </a:rPr>
              <a:t>5</a:t>
            </a:r>
          </a:p>
        </p:txBody>
      </p:sp>
      <p:sp>
        <p:nvSpPr>
          <p:cNvPr id="25" name="TextBox 24"/>
          <p:cNvSpPr txBox="1"/>
          <p:nvPr/>
        </p:nvSpPr>
        <p:spPr>
          <a:xfrm>
            <a:off x="6547104" y="4187952"/>
            <a:ext cx="5074920" cy="548640"/>
          </a:xfrm>
          <a:prstGeom prst="rect">
            <a:avLst/>
          </a:prstGeom>
          <a:noFill/>
        </p:spPr>
        <p:txBody>
          <a:bodyPr wrap="square" lIns="0" rIns="0" tIns="0" bIns="0">
            <a:spAutoFit/>
          </a:bodyPr>
          <a:lstStyle/>
          <a:p>
            <a:pPr algn="l">
              <a:spcAft>
                <a:spcPts val="400"/>
              </a:spcAft>
            </a:pPr>
            <a:r>
              <a:rPr sz="1100" b="0">
                <a:solidFill>
                  <a:srgbClr val="2B2F36"/>
                </a:solidFill>
                <a:latin typeface="Calibri"/>
              </a:rPr>
              <a:t>Prove it through config/sail/ first — one ELF through ACT4's own build</a:t>
            </a:r>
          </a:p>
        </p:txBody>
      </p:sp>
      <p:sp>
        <p:nvSpPr>
          <p:cNvPr id="26" name="TextBox 25"/>
          <p:cNvSpPr txBox="1"/>
          <p:nvPr/>
        </p:nvSpPr>
        <p:spPr>
          <a:xfrm>
            <a:off x="6227064" y="4754880"/>
            <a:ext cx="274320" cy="274320"/>
          </a:xfrm>
          <a:prstGeom prst="rect">
            <a:avLst/>
          </a:prstGeom>
          <a:noFill/>
        </p:spPr>
        <p:txBody>
          <a:bodyPr wrap="square" lIns="0" rIns="0" tIns="0" bIns="0">
            <a:spAutoFit/>
          </a:bodyPr>
          <a:lstStyle/>
          <a:p>
            <a:pPr algn="l">
              <a:spcAft>
                <a:spcPts val="400"/>
              </a:spcAft>
            </a:pPr>
            <a:r>
              <a:rPr sz="1150" b="1">
                <a:solidFill>
                  <a:srgbClr val="1A7FC1"/>
                </a:solidFill>
                <a:latin typeface="Calibri"/>
              </a:rPr>
              <a:t>6</a:t>
            </a:r>
          </a:p>
        </p:txBody>
      </p:sp>
      <p:sp>
        <p:nvSpPr>
          <p:cNvPr id="27" name="TextBox 26"/>
          <p:cNvSpPr txBox="1"/>
          <p:nvPr/>
        </p:nvSpPr>
        <p:spPr>
          <a:xfrm>
            <a:off x="6547104" y="4754880"/>
            <a:ext cx="5074920" cy="548640"/>
          </a:xfrm>
          <a:prstGeom prst="rect">
            <a:avLst/>
          </a:prstGeom>
          <a:noFill/>
        </p:spPr>
        <p:txBody>
          <a:bodyPr wrap="square" lIns="0" rIns="0" tIns="0" bIns="0">
            <a:spAutoFit/>
          </a:bodyPr>
          <a:lstStyle/>
          <a:p>
            <a:pPr algn="l">
              <a:spcAft>
                <a:spcPts val="400"/>
              </a:spcAft>
            </a:pPr>
            <a:r>
              <a:rPr sz="1100" b="0">
                <a:solidFill>
                  <a:srgbClr val="2B2F36"/>
                </a:solidFill>
                <a:latin typeface="Calibri"/>
              </a:rPr>
              <a:t>Directory placement and make integration</a:t>
            </a:r>
          </a:p>
        </p:txBody>
      </p:sp>
      <p:sp>
        <p:nvSpPr>
          <p:cNvPr id="28" name="Rectangle 27"/>
          <p:cNvSpPr/>
          <p:nvPr/>
        </p:nvSpPr>
        <p:spPr>
          <a:xfrm>
            <a:off x="6227064" y="5285232"/>
            <a:ext cx="5394960" cy="1078992"/>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5394960"/>
            <a:ext cx="5029200" cy="896112"/>
          </a:xfrm>
          <a:prstGeom prst="rect">
            <a:avLst/>
          </a:prstGeom>
          <a:noFill/>
        </p:spPr>
        <p:txBody>
          <a:bodyPr wrap="square" lIns="0" rIns="0" tIns="0" bIns="0">
            <a:spAutoFit/>
          </a:bodyPr>
          <a:lstStyle/>
          <a:p>
            <a:pPr algn="l">
              <a:spcAft>
                <a:spcPts val="400"/>
              </a:spcAft>
            </a:pPr>
            <a:r>
              <a:rPr sz="1050" b="0">
                <a:solidFill>
                  <a:srgbClr val="2B2F36"/>
                </a:solidFill>
                <a:latin typeface="Calibri"/>
              </a:rPr>
              <a:t>QEMU's HTIF reads the symbol's ELF st_size and refuses to start if it is 0 — which is what a bare label gets. That is why step 2 matters and a linker constant will not 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14</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PMP and PMA — the case space is derived, not chosen</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PMP register state is 2^4608 configurations. pmpCheck distinguishes about 44, because it composes three stages that read disjoint state.</a:t>
            </a:r>
          </a:p>
        </p:txBody>
      </p:sp>
      <p:sp>
        <p:nvSpPr>
          <p:cNvPr id="10" name="Rectangle 9"/>
          <p:cNvSpPr/>
          <p:nvPr/>
        </p:nvSpPr>
        <p:spPr>
          <a:xfrm>
            <a:off x="566928" y="1545336"/>
            <a:ext cx="7406640" cy="402336"/>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00200"/>
            <a:ext cx="1956815" cy="402336"/>
          </a:xfrm>
          <a:prstGeom prst="rect">
            <a:avLst/>
          </a:prstGeom>
          <a:noFill/>
        </p:spPr>
        <p:txBody>
          <a:bodyPr wrap="square" lIns="0" rIns="0" tIns="0" bIns="0">
            <a:spAutoFit/>
          </a:bodyPr>
          <a:lstStyle/>
          <a:p>
            <a:pPr algn="l">
              <a:spcAft>
                <a:spcPts val="400"/>
              </a:spcAft>
            </a:pPr>
            <a:r>
              <a:rPr sz="1150" b="1">
                <a:solidFill>
                  <a:srgbClr val="0F3057"/>
                </a:solidFill>
                <a:latin typeface="Calibri"/>
              </a:rPr>
              <a:t>Stage</a:t>
            </a:r>
          </a:p>
        </p:txBody>
      </p:sp>
      <p:sp>
        <p:nvSpPr>
          <p:cNvPr id="12" name="TextBox 11"/>
          <p:cNvSpPr txBox="1"/>
          <p:nvPr/>
        </p:nvSpPr>
        <p:spPr>
          <a:xfrm>
            <a:off x="2761488" y="1600200"/>
            <a:ext cx="3694176" cy="402336"/>
          </a:xfrm>
          <a:prstGeom prst="rect">
            <a:avLst/>
          </a:prstGeom>
          <a:noFill/>
        </p:spPr>
        <p:txBody>
          <a:bodyPr wrap="square" lIns="0" rIns="0" tIns="0" bIns="0">
            <a:spAutoFit/>
          </a:bodyPr>
          <a:lstStyle/>
          <a:p>
            <a:pPr algn="l">
              <a:spcAft>
                <a:spcPts val="400"/>
              </a:spcAft>
            </a:pPr>
            <a:r>
              <a:rPr sz="1150" b="1">
                <a:solidFill>
                  <a:srgbClr val="0F3057"/>
                </a:solidFill>
                <a:latin typeface="Calibri"/>
              </a:rPr>
              <a:t>Reads</a:t>
            </a:r>
          </a:p>
        </p:txBody>
      </p:sp>
      <p:sp>
        <p:nvSpPr>
          <p:cNvPr id="13" name="TextBox 12"/>
          <p:cNvSpPr txBox="1"/>
          <p:nvPr/>
        </p:nvSpPr>
        <p:spPr>
          <a:xfrm>
            <a:off x="6601968" y="1600200"/>
            <a:ext cx="1316736" cy="402336"/>
          </a:xfrm>
          <a:prstGeom prst="rect">
            <a:avLst/>
          </a:prstGeom>
          <a:noFill/>
        </p:spPr>
        <p:txBody>
          <a:bodyPr wrap="square" lIns="0" rIns="0" tIns="0" bIns="0">
            <a:spAutoFit/>
          </a:bodyPr>
          <a:lstStyle/>
          <a:p>
            <a:pPr algn="l">
              <a:spcAft>
                <a:spcPts val="400"/>
              </a:spcAft>
            </a:pPr>
            <a:r>
              <a:rPr sz="1150" b="1">
                <a:solidFill>
                  <a:srgbClr val="0F3057"/>
                </a:solidFill>
                <a:latin typeface="Calibri"/>
              </a:rPr>
              <a:t>Cases</a:t>
            </a:r>
          </a:p>
        </p:txBody>
      </p:sp>
      <p:sp>
        <p:nvSpPr>
          <p:cNvPr id="14" name="Rectangle 13"/>
          <p:cNvSpPr/>
          <p:nvPr/>
        </p:nvSpPr>
        <p:spPr>
          <a:xfrm>
            <a:off x="566928" y="1956816"/>
            <a:ext cx="7406640"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002536"/>
            <a:ext cx="1956815"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Address match</a:t>
            </a:r>
          </a:p>
        </p:txBody>
      </p:sp>
      <p:sp>
        <p:nvSpPr>
          <p:cNvPr id="16" name="TextBox 15"/>
          <p:cNvSpPr txBox="1"/>
          <p:nvPr/>
        </p:nvSpPr>
        <p:spPr>
          <a:xfrm>
            <a:off x="2761488" y="2002536"/>
            <a:ext cx="3694176"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the address and pmpaddr</a:t>
            </a:r>
          </a:p>
        </p:txBody>
      </p:sp>
      <p:sp>
        <p:nvSpPr>
          <p:cNvPr id="17" name="TextBox 16"/>
          <p:cNvSpPr txBox="1"/>
          <p:nvPr/>
        </p:nvSpPr>
        <p:spPr>
          <a:xfrm>
            <a:off x="6601968" y="2002536"/>
            <a:ext cx="1316736"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17</a:t>
            </a:r>
          </a:p>
        </p:txBody>
      </p:sp>
      <p:sp>
        <p:nvSpPr>
          <p:cNvPr id="18" name="Rectangle 17"/>
          <p:cNvSpPr/>
          <p:nvPr/>
        </p:nvSpPr>
        <p:spPr>
          <a:xfrm>
            <a:off x="566928" y="2359152"/>
            <a:ext cx="7406640"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404872"/>
            <a:ext cx="1956815"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Permission check</a:t>
            </a:r>
          </a:p>
        </p:txBody>
      </p:sp>
      <p:sp>
        <p:nvSpPr>
          <p:cNvPr id="20" name="TextBox 19"/>
          <p:cNvSpPr txBox="1"/>
          <p:nvPr/>
        </p:nvSpPr>
        <p:spPr>
          <a:xfrm>
            <a:off x="2761488" y="2404872"/>
            <a:ext cx="3694176"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the access kind and R/W/X</a:t>
            </a:r>
          </a:p>
        </p:txBody>
      </p:sp>
      <p:sp>
        <p:nvSpPr>
          <p:cNvPr id="21" name="TextBox 20"/>
          <p:cNvSpPr txBox="1"/>
          <p:nvPr/>
        </p:nvSpPr>
        <p:spPr>
          <a:xfrm>
            <a:off x="6601968" y="2404872"/>
            <a:ext cx="1316736"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18</a:t>
            </a:r>
          </a:p>
        </p:txBody>
      </p:sp>
      <p:sp>
        <p:nvSpPr>
          <p:cNvPr id="22" name="Rectangle 21"/>
          <p:cNvSpPr/>
          <p:nvPr/>
        </p:nvSpPr>
        <p:spPr>
          <a:xfrm>
            <a:off x="566928" y="2761488"/>
            <a:ext cx="7406640"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2807208"/>
            <a:ext cx="1956815"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Privilege override</a:t>
            </a:r>
          </a:p>
        </p:txBody>
      </p:sp>
      <p:sp>
        <p:nvSpPr>
          <p:cNvPr id="24" name="TextBox 23"/>
          <p:cNvSpPr txBox="1"/>
          <p:nvPr/>
        </p:nvSpPr>
        <p:spPr>
          <a:xfrm>
            <a:off x="2761488" y="2807208"/>
            <a:ext cx="3694176"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privilege and the lock bit</a:t>
            </a:r>
          </a:p>
        </p:txBody>
      </p:sp>
      <p:sp>
        <p:nvSpPr>
          <p:cNvPr id="25" name="TextBox 24"/>
          <p:cNvSpPr txBox="1"/>
          <p:nvPr/>
        </p:nvSpPr>
        <p:spPr>
          <a:xfrm>
            <a:off x="6601968" y="2807208"/>
            <a:ext cx="1316736"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4</a:t>
            </a:r>
          </a:p>
        </p:txBody>
      </p:sp>
      <p:sp>
        <p:nvSpPr>
          <p:cNvPr id="26" name="Rectangle 25"/>
          <p:cNvSpPr/>
          <p:nvPr/>
        </p:nvSpPr>
        <p:spPr>
          <a:xfrm>
            <a:off x="566928" y="3163824"/>
            <a:ext cx="7406640"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3209544"/>
            <a:ext cx="1956815"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Structural</a:t>
            </a:r>
          </a:p>
        </p:txBody>
      </p:sp>
      <p:sp>
        <p:nvSpPr>
          <p:cNvPr id="28" name="TextBox 27"/>
          <p:cNvSpPr txBox="1"/>
          <p:nvPr/>
        </p:nvSpPr>
        <p:spPr>
          <a:xfrm>
            <a:off x="2761488" y="3209544"/>
            <a:ext cx="3694176"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entry 0, priority, fall-through, zero entries</a:t>
            </a:r>
          </a:p>
        </p:txBody>
      </p:sp>
      <p:sp>
        <p:nvSpPr>
          <p:cNvPr id="29" name="TextBox 28"/>
          <p:cNvSpPr txBox="1"/>
          <p:nvPr/>
        </p:nvSpPr>
        <p:spPr>
          <a:xfrm>
            <a:off x="6601968" y="3209544"/>
            <a:ext cx="1316736"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5</a:t>
            </a:r>
          </a:p>
        </p:txBody>
      </p:sp>
      <p:sp>
        <p:nvSpPr>
          <p:cNvPr id="30" name="Rectangle 29"/>
          <p:cNvSpPr/>
          <p:nvPr/>
        </p:nvSpPr>
        <p:spPr>
          <a:xfrm>
            <a:off x="566928" y="3566160"/>
            <a:ext cx="7406640"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3611879"/>
            <a:ext cx="1956815"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Total</a:t>
            </a:r>
          </a:p>
        </p:txBody>
      </p:sp>
      <p:sp>
        <p:nvSpPr>
          <p:cNvPr id="32" name="TextBox 31"/>
          <p:cNvSpPr txBox="1"/>
          <p:nvPr/>
        </p:nvSpPr>
        <p:spPr>
          <a:xfrm>
            <a:off x="2761488" y="3611879"/>
            <a:ext cx="3694176"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counts ADD because the stages do not interact</a:t>
            </a:r>
          </a:p>
        </p:txBody>
      </p:sp>
      <p:sp>
        <p:nvSpPr>
          <p:cNvPr id="33" name="TextBox 32"/>
          <p:cNvSpPr txBox="1"/>
          <p:nvPr/>
        </p:nvSpPr>
        <p:spPr>
          <a:xfrm>
            <a:off x="6601968" y="3611879"/>
            <a:ext cx="1316736" cy="402336"/>
          </a:xfrm>
          <a:prstGeom prst="rect">
            <a:avLst/>
          </a:prstGeom>
          <a:noFill/>
        </p:spPr>
        <p:txBody>
          <a:bodyPr wrap="square" lIns="0" rIns="0" tIns="0" bIns="0">
            <a:spAutoFit/>
          </a:bodyPr>
          <a:lstStyle/>
          <a:p>
            <a:pPr algn="l">
              <a:spcAft>
                <a:spcPts val="400"/>
              </a:spcAft>
            </a:pPr>
            <a:r>
              <a:rPr sz="1150" b="0">
                <a:solidFill>
                  <a:srgbClr val="2B2F36"/>
                </a:solidFill>
                <a:latin typeface="Calibri"/>
              </a:rPr>
              <a:t>44, not 1,224</a:t>
            </a:r>
          </a:p>
        </p:txBody>
      </p:sp>
      <p:sp>
        <p:nvSpPr>
          <p:cNvPr id="34" name="TextBox 33"/>
          <p:cNvSpPr txBox="1"/>
          <p:nvPr/>
        </p:nvSpPr>
        <p:spPr>
          <a:xfrm>
            <a:off x="7863840" y="1481328"/>
            <a:ext cx="3758184" cy="274320"/>
          </a:xfrm>
          <a:prstGeom prst="rect">
            <a:avLst/>
          </a:prstGeom>
          <a:noFill/>
        </p:spPr>
        <p:txBody>
          <a:bodyPr wrap="square" lIns="0" rIns="0" tIns="0" bIns="0">
            <a:spAutoFit/>
          </a:bodyPr>
          <a:lstStyle/>
          <a:p>
            <a:pPr algn="l">
              <a:spcAft>
                <a:spcPts val="400"/>
              </a:spcAft>
            </a:pPr>
            <a:r>
              <a:rPr sz="1050" b="1">
                <a:solidFill>
                  <a:srgbClr val="1A7FC1"/>
                </a:solidFill>
                <a:latin typeface="Calibri"/>
              </a:rPr>
              <a:t>FIVE ADDRESS POSITIONS</a:t>
            </a:r>
          </a:p>
        </p:txBody>
      </p:sp>
      <p:sp>
        <p:nvSpPr>
          <p:cNvPr id="35" name="Rectangle 34"/>
          <p:cNvSpPr/>
          <p:nvPr/>
        </p:nvSpPr>
        <p:spPr>
          <a:xfrm>
            <a:off x="7863840" y="1719072"/>
            <a:ext cx="3758184"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1847088"/>
            <a:ext cx="3758184" cy="2103120"/>
          </a:xfrm>
          <a:prstGeom prst="rect">
            <a:avLst/>
          </a:prstGeom>
          <a:noFill/>
        </p:spPr>
        <p:txBody>
          <a:bodyPr wrap="square" lIns="0" rIns="0" tIns="0" bIns="0">
            <a:spAutoFit/>
          </a:bodyPr>
          <a:lstStyle/>
          <a:p>
            <a:pPr algn="l">
              <a:spcAft>
                <a:spcPts val="700"/>
              </a:spcAft>
            </a:pPr>
            <a:r>
              <a:rPr sz="1050" b="0">
                <a:solidFill>
                  <a:srgbClr val="2B2F36"/>
                </a:solidFill>
                <a:latin typeface="Consolas"/>
              </a:rPr>
              <a:t>1  entirely below            NoMatch</a:t>
            </a:r>
          </a:p>
          <a:p>
            <a:pPr algn="l">
              <a:spcAft>
                <a:spcPts val="700"/>
              </a:spcAft>
            </a:pPr>
            <a:r>
              <a:rPr sz="1050" b="0">
                <a:solidFill>
                  <a:srgbClr val="2B2F36"/>
                </a:solidFill>
                <a:latin typeface="Consolas"/>
              </a:rPr>
              <a:t>2  straddling the low edge   FAULT</a:t>
            </a:r>
          </a:p>
          <a:p>
            <a:pPr algn="l">
              <a:spcAft>
                <a:spcPts val="700"/>
              </a:spcAft>
            </a:pPr>
            <a:r>
              <a:rPr sz="1050" b="0">
                <a:solidFill>
                  <a:srgbClr val="2B2F36"/>
                </a:solidFill>
                <a:latin typeface="Consolas"/>
              </a:rPr>
              <a:t>3  wholly inside             Match</a:t>
            </a:r>
          </a:p>
          <a:p>
            <a:pPr algn="l">
              <a:spcAft>
                <a:spcPts val="700"/>
              </a:spcAft>
            </a:pPr>
            <a:r>
              <a:rPr sz="1050" b="0">
                <a:solidFill>
                  <a:srgbClr val="2B2F36"/>
                </a:solidFill>
                <a:latin typeface="Consolas"/>
              </a:rPr>
              <a:t>4  straddling the high edge  FAULT</a:t>
            </a:r>
          </a:p>
          <a:p>
            <a:pPr algn="l">
              <a:spcAft>
                <a:spcPts val="700"/>
              </a:spcAft>
            </a:pPr>
            <a:r>
              <a:rPr sz="1050" b="0">
                <a:solidFill>
                  <a:srgbClr val="2B2F36"/>
                </a:solidFill>
                <a:latin typeface="Consolas"/>
              </a:rPr>
              <a:t>5  entirely above            NoMatch</a:t>
            </a:r>
          </a:p>
        </p:txBody>
      </p:sp>
      <p:sp>
        <p:nvSpPr>
          <p:cNvPr id="37" name="TextBox 36"/>
          <p:cNvSpPr txBox="1"/>
          <p:nvPr/>
        </p:nvSpPr>
        <p:spPr>
          <a:xfrm>
            <a:off x="7863840" y="3063240"/>
            <a:ext cx="3758184" cy="914400"/>
          </a:xfrm>
          <a:prstGeom prst="rect">
            <a:avLst/>
          </a:prstGeom>
          <a:noFill/>
        </p:spPr>
        <p:txBody>
          <a:bodyPr wrap="square" lIns="0" rIns="0" tIns="0" bIns="0">
            <a:spAutoFit/>
          </a:bodyPr>
          <a:lstStyle/>
          <a:p>
            <a:pPr algn="l">
              <a:spcAft>
                <a:spcPts val="400"/>
              </a:spcAft>
            </a:pPr>
            <a:r>
              <a:rPr sz="1050" b="0">
                <a:solidFill>
                  <a:srgbClr val="5C6672"/>
                </a:solidFill>
                <a:latin typeface="Calibri"/>
              </a:rPr>
              <a:t>pmpRangeMatch compares only addr and addr+width against the two edges. Positions 2 and 4 fault regardless of permissions — the two a hand-written suite omits.</a:t>
            </a:r>
          </a:p>
        </p:txBody>
      </p:sp>
      <p:sp>
        <p:nvSpPr>
          <p:cNvPr id="38" name="Rectangle 37"/>
          <p:cNvSpPr/>
          <p:nvPr/>
        </p:nvSpPr>
        <p:spPr>
          <a:xfrm>
            <a:off x="566928" y="4187952"/>
            <a:ext cx="5394960" cy="1133856"/>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297680"/>
            <a:ext cx="5029200" cy="950976"/>
          </a:xfrm>
          <a:prstGeom prst="rect">
            <a:avLst/>
          </a:prstGeom>
          <a:noFill/>
        </p:spPr>
        <p:txBody>
          <a:bodyPr wrap="square" lIns="0" rIns="0" tIns="0" bIns="0">
            <a:spAutoFit/>
          </a:bodyPr>
          <a:lstStyle/>
          <a:p>
            <a:pPr algn="l">
              <a:spcAft>
                <a:spcPts val="400"/>
              </a:spcAft>
            </a:pPr>
            <a:r>
              <a:rPr sz="1050" b="0">
                <a:solidFill>
                  <a:srgbClr val="2B2F36"/>
                </a:solidFill>
                <a:latin typeface="Calibri"/>
              </a:rPr>
              <a:t>PMA works differently</a:t>
            </a:r>
          </a:p>
          <a:p>
            <a:pPr algn="l">
              <a:spcAft>
                <a:spcPts val="400"/>
              </a:spcAft>
            </a:pPr>
            <a:r>
              <a:rPr sz="1050" b="0">
                <a:solidFill>
                  <a:srgbClr val="2B2F36"/>
                </a:solidFill>
                <a:latin typeface="Calibri"/>
              </a:rPr>
              <a:t/>
            </a:r>
          </a:p>
          <a:p>
            <a:pPr algn="l">
              <a:spcAft>
                <a:spcPts val="400"/>
              </a:spcAft>
            </a:pPr>
            <a:r>
              <a:rPr sz="1050" b="0">
                <a:solidFill>
                  <a:srgbClr val="2B2F36"/>
                </a:solidFill>
                <a:latin typeface="Calibri"/>
              </a:rPr>
              <a:t>Attributes are per-region fields in the model's own config JSON, not CSRs. A PMA test is "run this access under a config whose region forbids it" — no new generator capability at all.</a:t>
            </a:r>
          </a:p>
        </p:txBody>
      </p:sp>
      <p:sp>
        <p:nvSpPr>
          <p:cNvPr id="40" name="Rectangle 39"/>
          <p:cNvSpPr/>
          <p:nvPr/>
        </p:nvSpPr>
        <p:spPr>
          <a:xfrm>
            <a:off x="6227064" y="4187952"/>
            <a:ext cx="5394960" cy="1133856"/>
          </a:xfrm>
          <a:prstGeom prst="rect">
            <a:avLst/>
          </a:prstGeom>
          <a:solidFill>
            <a:srgbClr val="F7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7376" y="4297680"/>
            <a:ext cx="5029200" cy="950976"/>
          </a:xfrm>
          <a:prstGeom prst="rect">
            <a:avLst/>
          </a:prstGeom>
          <a:noFill/>
        </p:spPr>
        <p:txBody>
          <a:bodyPr wrap="square" lIns="0" rIns="0" tIns="0" bIns="0">
            <a:spAutoFit/>
          </a:bodyPr>
          <a:lstStyle/>
          <a:p>
            <a:pPr algn="l">
              <a:spcAft>
                <a:spcPts val="400"/>
              </a:spcAft>
            </a:pPr>
            <a:r>
              <a:rPr sz="1050" b="0">
                <a:solidFill>
                  <a:srgbClr val="9A6114"/>
                </a:solidFill>
                <a:latin typeface="Calibri"/>
              </a:rPr>
              <a:t>One case no branch can see</a:t>
            </a:r>
          </a:p>
          <a:p>
            <a:pPr algn="l">
              <a:spcAft>
                <a:spcPts val="400"/>
              </a:spcAft>
            </a:pPr>
            <a:r>
              <a:rPr sz="1050" b="0">
                <a:solidFill>
                  <a:srgbClr val="9A6114"/>
                </a:solidFill>
                <a:latin typeface="Calibri"/>
              </a:rPr>
              <a:t/>
            </a:r>
          </a:p>
          <a:p>
            <a:pPr algn="l">
              <a:spcAft>
                <a:spcPts val="400"/>
              </a:spcAft>
            </a:pPr>
            <a:r>
              <a:rPr sz="1050" b="0">
                <a:solidFill>
                  <a:srgbClr val="9A6114"/>
                </a:solidFill>
                <a:latin typeface="Calibri"/>
              </a:rPr>
              <a:t>NAPOT computes its bounds with mask arithmetic. A bug there gives wrong bounds without changing any branch — so coverage-guided where branches exist, value-guided where the code is arithmetic.</a:t>
            </a:r>
          </a:p>
        </p:txBody>
      </p:sp>
      <p:sp>
        <p:nvSpPr>
          <p:cNvPr id="42" name="Rectangle 41"/>
          <p:cNvSpPr/>
          <p:nvPr/>
        </p:nvSpPr>
        <p:spPr>
          <a:xfrm>
            <a:off x="566928" y="5440680"/>
            <a:ext cx="11055096" cy="96012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541264"/>
            <a:ext cx="10607040" cy="804672"/>
          </a:xfrm>
          <a:prstGeom prst="rect">
            <a:avLst/>
          </a:prstGeom>
          <a:noFill/>
        </p:spPr>
        <p:txBody>
          <a:bodyPr wrap="square" lIns="0" rIns="0" tIns="0" bIns="0">
            <a:spAutoFit/>
          </a:bodyPr>
          <a:lstStyle/>
          <a:p>
            <a:pPr algn="l">
              <a:spcAft>
                <a:spcPts val="400"/>
              </a:spcAft>
            </a:pPr>
            <a:r>
              <a:rPr sz="1050" b="1">
                <a:solidFill>
                  <a:srgbClr val="0F3057"/>
                </a:solidFill>
                <a:latin typeface="Calibri"/>
              </a:rPr>
              <a:t>Measured 27 August 2026:  one generated lw against a denied region reaches 35.8% of pmp/. Five tests reach 37.6% and 7 of 19 access arms —</a:t>
            </a:r>
          </a:p>
          <a:p>
            <a:pPr algn="l">
              <a:spcAft>
                <a:spcPts val="400"/>
              </a:spcAft>
            </a:pPr>
            <a:r>
              <a:rPr sz="1050" b="1">
                <a:solidFill>
                  <a:srgbClr val="0F3057"/>
                </a:solidFill>
                <a:latin typeface="Calibri"/>
              </a:rPr>
              <a:t>but pmp_regs.sail, two thirds of the file, does not move by a single span. Register semantics need a different campaign, and that is a stated line item.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15</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Traps, interrupts, translation and virtual memory</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481328"/>
            <a:ext cx="3566160" cy="256032"/>
          </a:xfrm>
          <a:prstGeom prst="rect">
            <a:avLst/>
          </a:prstGeom>
          <a:noFill/>
        </p:spPr>
        <p:txBody>
          <a:bodyPr wrap="square" lIns="0" rIns="0" tIns="0" bIns="0">
            <a:spAutoFit/>
          </a:bodyPr>
          <a:lstStyle/>
          <a:p>
            <a:pPr algn="l">
              <a:spcAft>
                <a:spcPts val="400"/>
              </a:spcAft>
            </a:pPr>
            <a:r>
              <a:rPr sz="1050" b="1">
                <a:solidFill>
                  <a:srgbClr val="1A7FC1"/>
                </a:solidFill>
                <a:latin typeface="Calibri"/>
              </a:rPr>
              <a:t>TRAP HANDLERS</a:t>
            </a:r>
          </a:p>
        </p:txBody>
      </p:sp>
      <p:sp>
        <p:nvSpPr>
          <p:cNvPr id="10" name="Rectangle 9"/>
          <p:cNvSpPr/>
          <p:nvPr/>
        </p:nvSpPr>
        <p:spPr>
          <a:xfrm>
            <a:off x="566928" y="1737360"/>
            <a:ext cx="352044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874519"/>
            <a:ext cx="3520440" cy="3931920"/>
          </a:xfrm>
          <a:prstGeom prst="rect">
            <a:avLst/>
          </a:prstGeom>
          <a:noFill/>
        </p:spPr>
        <p:txBody>
          <a:bodyPr wrap="square" lIns="0" rIns="0" tIns="0" bIns="0">
            <a:spAutoFit/>
          </a:bodyPr>
          <a:lstStyle/>
          <a:p>
            <a:pPr algn="l">
              <a:spcAft>
                <a:spcPts val="1000"/>
              </a:spcAft>
            </a:pPr>
            <a:r>
              <a:rPr sz="1000" b="0">
                <a:solidFill>
                  <a:srgbClr val="2B2F36"/>
                </a:solidFill>
                <a:latin typeface="Calibri"/>
              </a:rPr>
              <a:t>·  Emitted as assembly per test, not linked from a library</a:t>
            </a:r>
          </a:p>
          <a:p>
            <a:pPr algn="l">
              <a:spcAft>
                <a:spcPts val="1000"/>
              </a:spcAft>
            </a:pPr>
            <a:r>
              <a:rPr sz="1000" b="0">
                <a:solidFill>
                  <a:srgbClr val="2B2F36"/>
                </a:solidFill>
                <a:latin typeface="Calibri"/>
              </a:rPr>
              <a:t>·  Default: any trap fails the test — mtvec armed by the preamble's first instruction</a:t>
            </a:r>
          </a:p>
          <a:p>
            <a:pPr algn="l">
              <a:spcAft>
                <a:spcPts val="1000"/>
              </a:spcAft>
            </a:pPr>
            <a:r>
              <a:rPr sz="1000" b="0">
                <a:solidFill>
                  <a:srgbClr val="2B2F36"/>
                </a:solidFill>
                <a:latin typeface="Calibri"/>
              </a:rPr>
              <a:t>·  --expect-trap-cause: compare mcause, continue only on an exact match</a:t>
            </a:r>
          </a:p>
          <a:p>
            <a:pPr algn="l">
              <a:spcAft>
                <a:spcPts val="1000"/>
              </a:spcAft>
            </a:pPr>
            <a:r>
              <a:rPr sz="1000" b="0">
                <a:solidFill>
                  <a:srgbClr val="2B2F36"/>
                </a:solidFill>
                <a:latin typeface="Calibri"/>
              </a:rPr>
              <a:t>·  --trap-is-pass: report success from the handler — required for any violation test</a:t>
            </a:r>
          </a:p>
          <a:p>
            <a:pPr algn="l">
              <a:spcAft>
                <a:spcPts val="1000"/>
              </a:spcAft>
            </a:pPr>
            <a:r>
              <a:rPr sz="1000" b="0">
                <a:solidFill>
                  <a:srgbClr val="2B2F36"/>
                </a:solidFill>
                <a:latin typeface="Calibri"/>
              </a:rPr>
              <a:t>·  Advance mepc by 2 or 4 depending on whether the instruction was compressed</a:t>
            </a:r>
          </a:p>
          <a:p>
            <a:pPr algn="l">
              <a:spcAft>
                <a:spcPts val="1000"/>
              </a:spcAft>
            </a:pPr>
            <a:r>
              <a:rPr sz="1000" b="0">
                <a:solidFill>
                  <a:srgbClr val="2B2F36"/>
                </a:solidFill>
                <a:latin typeface="Calibri"/>
              </a:rPr>
              <a:t>·  Delegated traps read scause, not mcause — reading the wrong one is how a delegation test passes without delegation</a:t>
            </a:r>
          </a:p>
        </p:txBody>
      </p:sp>
      <p:sp>
        <p:nvSpPr>
          <p:cNvPr id="12" name="TextBox 11"/>
          <p:cNvSpPr txBox="1"/>
          <p:nvPr/>
        </p:nvSpPr>
        <p:spPr>
          <a:xfrm>
            <a:off x="4325112" y="1481328"/>
            <a:ext cx="3566160" cy="256032"/>
          </a:xfrm>
          <a:prstGeom prst="rect">
            <a:avLst/>
          </a:prstGeom>
          <a:noFill/>
        </p:spPr>
        <p:txBody>
          <a:bodyPr wrap="square" lIns="0" rIns="0" tIns="0" bIns="0">
            <a:spAutoFit/>
          </a:bodyPr>
          <a:lstStyle/>
          <a:p>
            <a:pPr algn="l">
              <a:spcAft>
                <a:spcPts val="400"/>
              </a:spcAft>
            </a:pPr>
            <a:r>
              <a:rPr sz="1050" b="1">
                <a:solidFill>
                  <a:srgbClr val="1A7FC1"/>
                </a:solidFill>
                <a:latin typeface="Calibri"/>
              </a:rPr>
              <a:t>INTERRUPTS</a:t>
            </a:r>
          </a:p>
        </p:txBody>
      </p:sp>
      <p:sp>
        <p:nvSpPr>
          <p:cNvPr id="13" name="Rectangle 12"/>
          <p:cNvSpPr/>
          <p:nvPr/>
        </p:nvSpPr>
        <p:spPr>
          <a:xfrm>
            <a:off x="4325112" y="1737360"/>
            <a:ext cx="352044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1874519"/>
            <a:ext cx="3520440" cy="3931920"/>
          </a:xfrm>
          <a:prstGeom prst="rect">
            <a:avLst/>
          </a:prstGeom>
          <a:noFill/>
        </p:spPr>
        <p:txBody>
          <a:bodyPr wrap="square" lIns="0" rIns="0" tIns="0" bIns="0">
            <a:spAutoFit/>
          </a:bodyPr>
          <a:lstStyle/>
          <a:p>
            <a:pPr algn="l">
              <a:spcAft>
                <a:spcPts val="1000"/>
              </a:spcAft>
            </a:pPr>
            <a:r>
              <a:rPr sz="1000" b="0">
                <a:solidFill>
                  <a:srgbClr val="2B2F36"/>
                </a:solidFill>
                <a:latin typeface="Calibri"/>
              </a:rPr>
              <a:t>·  Three conditions must be arranged, and getting one wrong looks like a pass</a:t>
            </a:r>
          </a:p>
          <a:p>
            <a:pPr algn="l">
              <a:spcAft>
                <a:spcPts val="1000"/>
              </a:spcAft>
            </a:pPr>
            <a:r>
              <a:rPr sz="1000" b="0">
                <a:solidFill>
                  <a:srgbClr val="2B2F36"/>
                </a:solidFill>
                <a:latin typeface="Calibri"/>
              </a:rPr>
              <a:t>·  --pending-interrupt: pending + mie, MIE left clear — tests WFI, not delivery</a:t>
            </a:r>
          </a:p>
          <a:p>
            <a:pPr algn="l">
              <a:spcAft>
                <a:spcPts val="1000"/>
              </a:spcAft>
            </a:pPr>
            <a:r>
              <a:rPr sz="1000" b="0">
                <a:solidFill>
                  <a:srgbClr val="2B2F36"/>
                </a:solidFill>
                <a:latin typeface="Calibri"/>
              </a:rPr>
              <a:t>·  --deliver-interrupt: adds mstatus.MIE, so the trap is taken</a:t>
            </a:r>
          </a:p>
          <a:p>
            <a:pPr algn="l">
              <a:spcAft>
                <a:spcPts val="1000"/>
              </a:spcAft>
            </a:pPr>
            <a:r>
              <a:rPr sz="1000" b="0">
                <a:solidFill>
                  <a:srgbClr val="2B2F36"/>
                </a:solidFill>
                <a:latin typeface="Calibri"/>
              </a:rPr>
              <a:t>·  --delegate-interrupt: a supervisor interrupt with mideleg set and stvec installed</a:t>
            </a:r>
          </a:p>
          <a:p>
            <a:pPr algn="l">
              <a:spcAft>
                <a:spcPts val="1000"/>
              </a:spcAft>
            </a:pPr>
            <a:r>
              <a:rPr sz="1000" b="0">
                <a:solidFill>
                  <a:srgbClr val="2B2F36"/>
                </a:solidFill>
                <a:latin typeface="Calibri"/>
              </a:rPr>
              <a:t>·  Machine-level interrupts cannot be delegated — mideleg hardwires MEI/MTI/MSI to zero</a:t>
            </a:r>
          </a:p>
          <a:p>
            <a:pPr algn="l">
              <a:spcAft>
                <a:spcPts val="1000"/>
              </a:spcAft>
            </a:pPr>
            <a:r>
              <a:rPr sz="1000" b="0">
                <a:solidFill>
                  <a:srgbClr val="2B2F36"/>
                </a:solidFill>
                <a:latin typeface="Calibri"/>
              </a:rPr>
              <a:t>·  An interrupt cause is the code with the top bit set — tested as a sign bit, so it stays XLEN-independent</a:t>
            </a:r>
          </a:p>
        </p:txBody>
      </p:sp>
      <p:sp>
        <p:nvSpPr>
          <p:cNvPr id="15" name="TextBox 14"/>
          <p:cNvSpPr txBox="1"/>
          <p:nvPr/>
        </p:nvSpPr>
        <p:spPr>
          <a:xfrm>
            <a:off x="8083296" y="1481328"/>
            <a:ext cx="3566160" cy="256032"/>
          </a:xfrm>
          <a:prstGeom prst="rect">
            <a:avLst/>
          </a:prstGeom>
          <a:noFill/>
        </p:spPr>
        <p:txBody>
          <a:bodyPr wrap="square" lIns="0" rIns="0" tIns="0" bIns="0">
            <a:spAutoFit/>
          </a:bodyPr>
          <a:lstStyle/>
          <a:p>
            <a:pPr algn="l">
              <a:spcAft>
                <a:spcPts val="400"/>
              </a:spcAft>
            </a:pPr>
            <a:r>
              <a:rPr sz="1050" b="1">
                <a:solidFill>
                  <a:srgbClr val="1A7FC1"/>
                </a:solidFill>
                <a:latin typeface="Calibri"/>
              </a:rPr>
              <a:t>TRANSLATION &amp; VM</a:t>
            </a:r>
          </a:p>
        </p:txBody>
      </p:sp>
      <p:sp>
        <p:nvSpPr>
          <p:cNvPr id="16" name="Rectangle 15"/>
          <p:cNvSpPr/>
          <p:nvPr/>
        </p:nvSpPr>
        <p:spPr>
          <a:xfrm>
            <a:off x="8083296" y="1737360"/>
            <a:ext cx="352044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83296" y="1874519"/>
            <a:ext cx="3520440" cy="3931920"/>
          </a:xfrm>
          <a:prstGeom prst="rect">
            <a:avLst/>
          </a:prstGeom>
          <a:noFill/>
        </p:spPr>
        <p:txBody>
          <a:bodyPr wrap="square" lIns="0" rIns="0" tIns="0" bIns="0">
            <a:spAutoFit/>
          </a:bodyPr>
          <a:lstStyle/>
          <a:p>
            <a:pPr algn="l">
              <a:spcAft>
                <a:spcPts val="1000"/>
              </a:spcAft>
            </a:pPr>
            <a:r>
              <a:rPr sz="1000" b="0">
                <a:solidFill>
                  <a:srgbClr val="2B2F36"/>
                </a:solidFill>
                <a:latin typeface="Calibri"/>
              </a:rPr>
              <a:t>·  satp.MODE decides the scheme — M-mode never translates, so tests must drop to Supervisor</a:t>
            </a:r>
          </a:p>
          <a:p>
            <a:pPr algn="l">
              <a:spcAft>
                <a:spcPts val="1000"/>
              </a:spcAft>
            </a:pPr>
            <a:r>
              <a:rPr sz="1000" b="0">
                <a:solidFill>
                  <a:srgbClr val="2B2F36"/>
                </a:solidFill>
                <a:latin typeface="Calibri"/>
              </a:rPr>
              <a:t>·  The page table is emitted into .data: 512 entries, leaf PTEs at the root, one 1 GiB gigapage each</a:t>
            </a:r>
          </a:p>
          <a:p>
            <a:pPr algn="l">
              <a:spcAft>
                <a:spcPts val="1000"/>
              </a:spcAft>
            </a:pPr>
            <a:r>
              <a:rPr sz="1000" b="0">
                <a:solidFill>
                  <a:srgbClr val="2B2F36"/>
                </a:solidFill>
                <a:latin typeface="Calibri"/>
              </a:rPr>
              <a:t>·  Two of 512 mapped — leaving 509 invalid is what makes an unmapped-page test possible</a:t>
            </a:r>
          </a:p>
          <a:p>
            <a:pPr algn="l">
              <a:spcAft>
                <a:spcPts val="1000"/>
              </a:spcAft>
            </a:pPr>
            <a:r>
              <a:rPr sz="1000" b="0">
                <a:solidFill>
                  <a:srgbClr val="2B2F36"/>
                </a:solidFill>
                <a:latin typeface="Calibri"/>
              </a:rPr>
              <a:t>·  Permissions are three gates: privilege (SUM allows loads and stores but never a fetch), shadow stack, then R/W/X after MXR</a:t>
            </a:r>
          </a:p>
          <a:p>
            <a:pPr algn="l">
              <a:spcAft>
                <a:spcPts val="1000"/>
              </a:spcAft>
            </a:pPr>
            <a:r>
              <a:rPr sz="1000" b="0">
                <a:solidFill>
                  <a:srgbClr val="2B2F36"/>
                </a:solidFill>
                <a:latin typeface="Calibri"/>
              </a:rPr>
              <a:t>·  MXR, SUM and MPRV each change the answer without touching a PTE</a:t>
            </a:r>
          </a:p>
        </p:txBody>
      </p:sp>
      <p:sp>
        <p:nvSpPr>
          <p:cNvPr id="18" name="Rectangle 17"/>
          <p:cNvSpPr/>
          <p:nvPr/>
        </p:nvSpPr>
        <p:spPr>
          <a:xfrm>
            <a:off x="566928" y="5559552"/>
            <a:ext cx="11055096" cy="841248"/>
          </a:xfrm>
          <a:prstGeom prst="rect">
            <a:avLst/>
          </a:prstGeom>
          <a:solidFill>
            <a:srgbClr val="FA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669280"/>
            <a:ext cx="10607040" cy="640080"/>
          </a:xfrm>
          <a:prstGeom prst="rect">
            <a:avLst/>
          </a:prstGeom>
          <a:noFill/>
        </p:spPr>
        <p:txBody>
          <a:bodyPr wrap="square" lIns="0" rIns="0" tIns="0" bIns="0">
            <a:spAutoFit/>
          </a:bodyPr>
          <a:lstStyle/>
          <a:p>
            <a:pPr algn="l">
              <a:spcAft>
                <a:spcPts val="400"/>
              </a:spcAft>
            </a:pPr>
            <a:r>
              <a:rPr sz="1050" b="1">
                <a:solidFill>
                  <a:srgbClr val="A5372B"/>
                </a:solidFill>
                <a:latin typeface="Calibri"/>
              </a:rPr>
              <a:t>Virtual memory cannot be tested apart from PMP.  Dropping to Supervisor arms PMP's default-deny, and the walker's own PTE reads are PMP-checked.</a:t>
            </a:r>
          </a:p>
          <a:p>
            <a:pPr algn="l">
              <a:spcAft>
                <a:spcPts val="400"/>
              </a:spcAft>
            </a:pPr>
            <a:r>
              <a:rPr sz="1050" b="1">
                <a:solidFill>
                  <a:srgbClr val="A5372B"/>
                </a:solidFill>
                <a:latin typeface="Calibri"/>
              </a:rPr>
              <a:t>The joint case: deny the region the page table itself lives in — a correct model reports an access fault, a wrong one a page fault.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16</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Fifteen weeks, two engineers, five milestones</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imeline.png"/>
          <p:cNvPicPr>
            <a:picLocks noChangeAspect="1"/>
          </p:cNvPicPr>
          <p:nvPr/>
        </p:nvPicPr>
        <p:blipFill>
          <a:blip r:embed="rId2"/>
          <a:stretch>
            <a:fillRect/>
          </a:stretch>
        </p:blipFill>
        <p:spPr>
          <a:xfrm>
            <a:off x="1453534" y="1417320"/>
            <a:ext cx="9281882" cy="3337560"/>
          </a:xfrm>
          <a:prstGeom prst="rect">
            <a:avLst/>
          </a:prstGeom>
        </p:spPr>
      </p:pic>
      <p:sp>
        <p:nvSpPr>
          <p:cNvPr id="10" name="TextBox 9"/>
          <p:cNvSpPr txBox="1"/>
          <p:nvPr/>
        </p:nvSpPr>
        <p:spPr>
          <a:xfrm>
            <a:off x="566928" y="4983480"/>
            <a:ext cx="11055096" cy="777240"/>
          </a:xfrm>
          <a:prstGeom prst="rect">
            <a:avLst/>
          </a:prstGeom>
          <a:noFill/>
        </p:spPr>
        <p:txBody>
          <a:bodyPr wrap="square" lIns="0" rIns="0" tIns="0" bIns="0">
            <a:spAutoFit/>
          </a:bodyPr>
          <a:lstStyle/>
          <a:p>
            <a:pPr algn="l">
              <a:spcAft>
                <a:spcPts val="400"/>
              </a:spcAft>
            </a:pPr>
            <a:r>
              <a:rPr sz="1150" b="0">
                <a:solidFill>
                  <a:srgbClr val="2B2F36"/>
                </a:solidFill>
                <a:latin typeface="Calibri"/>
              </a:rPr>
              <a:t>Engineer 1 works on the generators, Engineer 2 on the control and measurement layer. In M1 that split lets both start on day one; from M2 the pairing</a:t>
            </a:r>
          </a:p>
          <a:p>
            <a:pPr algn="l">
              <a:spcAft>
                <a:spcPts val="400"/>
              </a:spcAft>
            </a:pPr>
            <a:r>
              <a:rPr sz="1150" b="0">
                <a:solidFill>
                  <a:srgbClr val="2B2F36"/>
                </a:solidFill>
                <a:latin typeface="Calibri"/>
              </a:rPr>
              <a:t>is deliberate — traps and interrupts belong together, PMP and PMA belong together, translation and its permissions are two halves of one feature.</a:t>
            </a:r>
          </a:p>
        </p:txBody>
      </p:sp>
      <p:sp>
        <p:nvSpPr>
          <p:cNvPr id="11" name="Rectangle 10"/>
          <p:cNvSpPr/>
          <p:nvPr/>
        </p:nvSpPr>
        <p:spPr>
          <a:xfrm>
            <a:off x="566928" y="5687568"/>
            <a:ext cx="11055096" cy="713232"/>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815584"/>
            <a:ext cx="10607040" cy="530352"/>
          </a:xfrm>
          <a:prstGeom prst="rect">
            <a:avLst/>
          </a:prstGeom>
          <a:noFill/>
        </p:spPr>
        <p:txBody>
          <a:bodyPr wrap="square" lIns="0" rIns="0" tIns="0" bIns="0">
            <a:spAutoFit/>
          </a:bodyPr>
          <a:lstStyle/>
          <a:p>
            <a:pPr algn="l">
              <a:spcAft>
                <a:spcPts val="400"/>
              </a:spcAft>
            </a:pPr>
            <a:r>
              <a:rPr sz="1200" b="1">
                <a:solidFill>
                  <a:srgbClr val="0F3057"/>
                </a:solidFill>
                <a:latin typeface="Calibri"/>
              </a:rPr>
              <a:t>A milestone is not complete because its weeks elapsed. It is complete when its reachable spans are hit, or excluded with a written reason.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17</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Milestones, owners and exit gates</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389888"/>
            <a:ext cx="11055096" cy="804672"/>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44752"/>
            <a:ext cx="1773936" cy="804672"/>
          </a:xfrm>
          <a:prstGeom prst="rect">
            <a:avLst/>
          </a:prstGeom>
          <a:noFill/>
        </p:spPr>
        <p:txBody>
          <a:bodyPr wrap="square" lIns="0" rIns="0" tIns="0" bIns="0">
            <a:spAutoFit/>
          </a:bodyPr>
          <a:lstStyle/>
          <a:p>
            <a:pPr algn="l">
              <a:spcAft>
                <a:spcPts val="400"/>
              </a:spcAft>
            </a:pPr>
            <a:r>
              <a:rPr sz="1050" b="1">
                <a:solidFill>
                  <a:srgbClr val="0F3057"/>
                </a:solidFill>
                <a:latin typeface="Calibri"/>
              </a:rPr>
              <a:t>Milestone</a:t>
            </a:r>
          </a:p>
        </p:txBody>
      </p:sp>
      <p:sp>
        <p:nvSpPr>
          <p:cNvPr id="11" name="TextBox 10"/>
          <p:cNvSpPr txBox="1"/>
          <p:nvPr/>
        </p:nvSpPr>
        <p:spPr>
          <a:xfrm>
            <a:off x="2578608" y="1444752"/>
            <a:ext cx="448056" cy="804672"/>
          </a:xfrm>
          <a:prstGeom prst="rect">
            <a:avLst/>
          </a:prstGeom>
          <a:noFill/>
        </p:spPr>
        <p:txBody>
          <a:bodyPr wrap="square" lIns="0" rIns="0" tIns="0" bIns="0">
            <a:spAutoFit/>
          </a:bodyPr>
          <a:lstStyle/>
          <a:p>
            <a:pPr algn="l">
              <a:spcAft>
                <a:spcPts val="400"/>
              </a:spcAft>
            </a:pPr>
            <a:r>
              <a:rPr sz="1050" b="1">
                <a:solidFill>
                  <a:srgbClr val="0F3057"/>
                </a:solidFill>
                <a:latin typeface="Calibri"/>
              </a:rPr>
              <a:t>Wk</a:t>
            </a:r>
          </a:p>
        </p:txBody>
      </p:sp>
      <p:sp>
        <p:nvSpPr>
          <p:cNvPr id="12" name="TextBox 11"/>
          <p:cNvSpPr txBox="1"/>
          <p:nvPr/>
        </p:nvSpPr>
        <p:spPr>
          <a:xfrm>
            <a:off x="3172968" y="1444752"/>
            <a:ext cx="2779776" cy="804672"/>
          </a:xfrm>
          <a:prstGeom prst="rect">
            <a:avLst/>
          </a:prstGeom>
          <a:noFill/>
        </p:spPr>
        <p:txBody>
          <a:bodyPr wrap="square" lIns="0" rIns="0" tIns="0" bIns="0">
            <a:spAutoFit/>
          </a:bodyPr>
          <a:lstStyle/>
          <a:p>
            <a:pPr algn="l">
              <a:spcAft>
                <a:spcPts val="400"/>
              </a:spcAft>
            </a:pPr>
            <a:r>
              <a:rPr sz="1050" b="1">
                <a:solidFill>
                  <a:srgbClr val="0F3057"/>
                </a:solidFill>
                <a:latin typeface="Calibri"/>
              </a:rPr>
              <a:t>Engineer 1</a:t>
            </a:r>
          </a:p>
        </p:txBody>
      </p:sp>
      <p:sp>
        <p:nvSpPr>
          <p:cNvPr id="13" name="TextBox 12"/>
          <p:cNvSpPr txBox="1"/>
          <p:nvPr/>
        </p:nvSpPr>
        <p:spPr>
          <a:xfrm>
            <a:off x="6099048" y="1444752"/>
            <a:ext cx="2724912" cy="804672"/>
          </a:xfrm>
          <a:prstGeom prst="rect">
            <a:avLst/>
          </a:prstGeom>
          <a:noFill/>
        </p:spPr>
        <p:txBody>
          <a:bodyPr wrap="square" lIns="0" rIns="0" tIns="0" bIns="0">
            <a:spAutoFit/>
          </a:bodyPr>
          <a:lstStyle/>
          <a:p>
            <a:pPr algn="l">
              <a:spcAft>
                <a:spcPts val="400"/>
              </a:spcAft>
            </a:pPr>
            <a:r>
              <a:rPr sz="1050" b="1">
                <a:solidFill>
                  <a:srgbClr val="0F3057"/>
                </a:solidFill>
                <a:latin typeface="Calibri"/>
              </a:rPr>
              <a:t>Engineer 2</a:t>
            </a:r>
          </a:p>
        </p:txBody>
      </p:sp>
      <p:sp>
        <p:nvSpPr>
          <p:cNvPr id="14" name="TextBox 13"/>
          <p:cNvSpPr txBox="1"/>
          <p:nvPr/>
        </p:nvSpPr>
        <p:spPr>
          <a:xfrm>
            <a:off x="8970264" y="1444752"/>
            <a:ext cx="2596896" cy="804672"/>
          </a:xfrm>
          <a:prstGeom prst="rect">
            <a:avLst/>
          </a:prstGeom>
          <a:noFill/>
        </p:spPr>
        <p:txBody>
          <a:bodyPr wrap="square" lIns="0" rIns="0" tIns="0" bIns="0">
            <a:spAutoFit/>
          </a:bodyPr>
          <a:lstStyle/>
          <a:p>
            <a:pPr algn="l">
              <a:spcAft>
                <a:spcPts val="400"/>
              </a:spcAft>
            </a:pPr>
            <a:r>
              <a:rPr sz="1050" b="1">
                <a:solidFill>
                  <a:srgbClr val="0F3057"/>
                </a:solidFill>
                <a:latin typeface="Calibri"/>
              </a:rPr>
              <a:t>Exit gate</a:t>
            </a:r>
          </a:p>
        </p:txBody>
      </p:sp>
      <p:sp>
        <p:nvSpPr>
          <p:cNvPr id="15" name="Rectangle 14"/>
          <p:cNvSpPr/>
          <p:nvPr/>
        </p:nvSpPr>
        <p:spPr>
          <a:xfrm>
            <a:off x="566928" y="2203704"/>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249424"/>
            <a:ext cx="177393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M1  Foundation</a:t>
            </a:r>
          </a:p>
        </p:txBody>
      </p:sp>
      <p:sp>
        <p:nvSpPr>
          <p:cNvPr id="17" name="TextBox 16"/>
          <p:cNvSpPr txBox="1"/>
          <p:nvPr/>
        </p:nvSpPr>
        <p:spPr>
          <a:xfrm>
            <a:off x="2578608" y="2249424"/>
            <a:ext cx="44805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1–3</a:t>
            </a:r>
          </a:p>
        </p:txBody>
      </p:sp>
      <p:sp>
        <p:nvSpPr>
          <p:cNvPr id="18" name="TextBox 17"/>
          <p:cNvSpPr txBox="1"/>
          <p:nvPr/>
        </p:nvSpPr>
        <p:spPr>
          <a:xfrm>
            <a:off x="3172968" y="2249424"/>
            <a:ext cx="277977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RISC-V support in isla-testgen (1w)</a:t>
            </a:r>
          </a:p>
          <a:p>
            <a:pPr algn="l">
              <a:spcAft>
                <a:spcPts val="400"/>
              </a:spcAft>
            </a:pPr>
            <a:r>
              <a:rPr sz="1050" b="0">
                <a:solidFill>
                  <a:srgbClr val="2B2F36"/>
                </a:solidFill>
                <a:latin typeface="Calibri"/>
              </a:rPr>
              <a:t>Custom oracle test generation (1w)</a:t>
            </a:r>
          </a:p>
        </p:txBody>
      </p:sp>
      <p:sp>
        <p:nvSpPr>
          <p:cNvPr id="19" name="TextBox 18"/>
          <p:cNvSpPr txBox="1"/>
          <p:nvPr/>
        </p:nvSpPr>
        <p:spPr>
          <a:xfrm>
            <a:off x="6099048" y="2249424"/>
            <a:ext cx="2724912"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Control layer development (1w)</a:t>
            </a:r>
          </a:p>
          <a:p>
            <a:pPr algn="l">
              <a:spcAft>
                <a:spcPts val="400"/>
              </a:spcAft>
            </a:pPr>
            <a:r>
              <a:rPr sz="1050" b="0">
                <a:solidFill>
                  <a:srgbClr val="2B2F36"/>
                </a:solidFill>
                <a:latin typeface="Calibri"/>
              </a:rPr>
              <a:t>Coverage collection and analysis (1w)</a:t>
            </a:r>
          </a:p>
        </p:txBody>
      </p:sp>
      <p:sp>
        <p:nvSpPr>
          <p:cNvPr id="20" name="TextBox 19"/>
          <p:cNvSpPr txBox="1"/>
          <p:nvPr/>
        </p:nvSpPr>
        <p:spPr>
          <a:xfrm>
            <a:off x="8970264" y="2249424"/>
            <a:ext cx="259689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One instruction generated by both routes, run on Sail and Spike, with a coverage number attached</a:t>
            </a:r>
          </a:p>
        </p:txBody>
      </p:sp>
      <p:sp>
        <p:nvSpPr>
          <p:cNvPr id="21" name="Rectangle 20"/>
          <p:cNvSpPr/>
          <p:nvPr/>
        </p:nvSpPr>
        <p:spPr>
          <a:xfrm>
            <a:off x="566928" y="3008376"/>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3054096"/>
            <a:ext cx="177393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M2  M-mode critical</a:t>
            </a:r>
          </a:p>
        </p:txBody>
      </p:sp>
      <p:sp>
        <p:nvSpPr>
          <p:cNvPr id="23" name="TextBox 22"/>
          <p:cNvSpPr txBox="1"/>
          <p:nvPr/>
        </p:nvSpPr>
        <p:spPr>
          <a:xfrm>
            <a:off x="2578608" y="3054096"/>
            <a:ext cx="44805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4–6</a:t>
            </a:r>
          </a:p>
        </p:txBody>
      </p:sp>
      <p:sp>
        <p:nvSpPr>
          <p:cNvPr id="24" name="TextBox 23"/>
          <p:cNvSpPr txBox="1"/>
          <p:nvPr/>
        </p:nvSpPr>
        <p:spPr>
          <a:xfrm>
            <a:off x="3172968" y="3054096"/>
            <a:ext cx="277977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Trap handler generation</a:t>
            </a:r>
          </a:p>
          <a:p>
            <a:pPr algn="l">
              <a:spcAft>
                <a:spcPts val="400"/>
              </a:spcAft>
            </a:pPr>
            <a:r>
              <a:rPr sz="1050" b="0">
                <a:solidFill>
                  <a:srgbClr val="2B2F36"/>
                </a:solidFill>
                <a:latin typeface="Calibri"/>
              </a:rPr>
              <a:t>Interrupt and exception handling</a:t>
            </a:r>
          </a:p>
        </p:txBody>
      </p:sp>
      <p:sp>
        <p:nvSpPr>
          <p:cNvPr id="25" name="TextBox 24"/>
          <p:cNvSpPr txBox="1"/>
          <p:nvPr/>
        </p:nvSpPr>
        <p:spPr>
          <a:xfrm>
            <a:off x="6099048" y="3054096"/>
            <a:ext cx="2724912"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PMP setup</a:t>
            </a:r>
          </a:p>
          <a:p>
            <a:pPr algn="l">
              <a:spcAft>
                <a:spcPts val="400"/>
              </a:spcAft>
            </a:pPr>
            <a:r>
              <a:rPr sz="1050" b="0">
                <a:solidFill>
                  <a:srgbClr val="2B2F36"/>
                </a:solidFill>
                <a:latin typeface="Calibri"/>
              </a:rPr>
              <a:t>PMA setup</a:t>
            </a:r>
          </a:p>
        </p:txBody>
      </p:sp>
      <p:sp>
        <p:nvSpPr>
          <p:cNvPr id="26" name="TextBox 25"/>
          <p:cNvSpPr txBox="1"/>
          <p:nvPr/>
        </p:nvSpPr>
        <p:spPr>
          <a:xfrm>
            <a:off x="8970264" y="3054096"/>
            <a:ext cx="259689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Every item the RFP marks required for M-mode has generated tests with negative controls</a:t>
            </a:r>
          </a:p>
        </p:txBody>
      </p:sp>
      <p:sp>
        <p:nvSpPr>
          <p:cNvPr id="27" name="Rectangle 26"/>
          <p:cNvSpPr/>
          <p:nvPr/>
        </p:nvSpPr>
        <p:spPr>
          <a:xfrm>
            <a:off x="566928" y="3813048"/>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3858768"/>
            <a:ext cx="177393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M3  S-mode</a:t>
            </a:r>
          </a:p>
        </p:txBody>
      </p:sp>
      <p:sp>
        <p:nvSpPr>
          <p:cNvPr id="29" name="TextBox 28"/>
          <p:cNvSpPr txBox="1"/>
          <p:nvPr/>
        </p:nvSpPr>
        <p:spPr>
          <a:xfrm>
            <a:off x="2578608" y="3858768"/>
            <a:ext cx="44805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7–9</a:t>
            </a:r>
          </a:p>
        </p:txBody>
      </p:sp>
      <p:sp>
        <p:nvSpPr>
          <p:cNvPr id="30" name="TextBox 29"/>
          <p:cNvSpPr txBox="1"/>
          <p:nvPr/>
        </p:nvSpPr>
        <p:spPr>
          <a:xfrm>
            <a:off x="3172968" y="3858768"/>
            <a:ext cx="277977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Translation schemes — Sv32/39/48/57</a:t>
            </a:r>
          </a:p>
        </p:txBody>
      </p:sp>
      <p:sp>
        <p:nvSpPr>
          <p:cNvPr id="31" name="TextBox 30"/>
          <p:cNvSpPr txBox="1"/>
          <p:nvPr/>
        </p:nvSpPr>
        <p:spPr>
          <a:xfrm>
            <a:off x="6099048" y="3858768"/>
            <a:ext cx="2724912"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Virtual memory permissions, incl. the joint PMP case</a:t>
            </a:r>
          </a:p>
        </p:txBody>
      </p:sp>
      <p:sp>
        <p:nvSpPr>
          <p:cNvPr id="32" name="TextBox 31"/>
          <p:cNvSpPr txBox="1"/>
          <p:nvPr/>
        </p:nvSpPr>
        <p:spPr>
          <a:xfrm>
            <a:off x="8970264" y="3858768"/>
            <a:ext cx="259689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Translation active under all supported schemes; permission failures reachable, not only successes</a:t>
            </a:r>
          </a:p>
        </p:txBody>
      </p:sp>
      <p:sp>
        <p:nvSpPr>
          <p:cNvPr id="33" name="Rectangle 32"/>
          <p:cNvSpPr/>
          <p:nvPr/>
        </p:nvSpPr>
        <p:spPr>
          <a:xfrm>
            <a:off x="566928" y="4617720"/>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663440"/>
            <a:ext cx="177393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M4  Extensions</a:t>
            </a:r>
          </a:p>
        </p:txBody>
      </p:sp>
      <p:sp>
        <p:nvSpPr>
          <p:cNvPr id="35" name="TextBox 34"/>
          <p:cNvSpPr txBox="1"/>
          <p:nvPr/>
        </p:nvSpPr>
        <p:spPr>
          <a:xfrm>
            <a:off x="2578608" y="4663440"/>
            <a:ext cx="44805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10–12</a:t>
            </a:r>
          </a:p>
        </p:txBody>
      </p:sp>
      <p:sp>
        <p:nvSpPr>
          <p:cNvPr id="36" name="TextBox 35"/>
          <p:cNvSpPr txBox="1"/>
          <p:nvPr/>
        </p:nvSpPr>
        <p:spPr>
          <a:xfrm>
            <a:off x="3172968" y="4663440"/>
            <a:ext cx="277977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Every extension the Golden Model supports,</a:t>
            </a:r>
          </a:p>
        </p:txBody>
      </p:sp>
      <p:sp>
        <p:nvSpPr>
          <p:cNvPr id="37" name="TextBox 36"/>
          <p:cNvSpPr txBox="1"/>
          <p:nvPr/>
        </p:nvSpPr>
        <p:spPr>
          <a:xfrm>
            <a:off x="6099048" y="4663440"/>
            <a:ext cx="2724912"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except floating point and vector</a:t>
            </a:r>
          </a:p>
        </p:txBody>
      </p:sp>
      <p:sp>
        <p:nvSpPr>
          <p:cNvPr id="38" name="TextBox 37"/>
          <p:cNvSpPr txBox="1"/>
          <p:nvPr/>
        </p:nvSpPr>
        <p:spPr>
          <a:xfrm>
            <a:off x="8970264" y="4663440"/>
            <a:ext cx="259689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Per-extension coverage reported against reachable targets</a:t>
            </a:r>
          </a:p>
        </p:txBody>
      </p:sp>
      <p:sp>
        <p:nvSpPr>
          <p:cNvPr id="39" name="Rectangle 38"/>
          <p:cNvSpPr/>
          <p:nvPr/>
        </p:nvSpPr>
        <p:spPr>
          <a:xfrm>
            <a:off x="566928" y="5422392"/>
            <a:ext cx="11055096" cy="7315"/>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468112"/>
            <a:ext cx="177393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M5  Ship</a:t>
            </a:r>
          </a:p>
        </p:txBody>
      </p:sp>
      <p:sp>
        <p:nvSpPr>
          <p:cNvPr id="41" name="TextBox 40"/>
          <p:cNvSpPr txBox="1"/>
          <p:nvPr/>
        </p:nvSpPr>
        <p:spPr>
          <a:xfrm>
            <a:off x="2578608" y="5468112"/>
            <a:ext cx="44805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13–15</a:t>
            </a:r>
          </a:p>
        </p:txBody>
      </p:sp>
      <p:sp>
        <p:nvSpPr>
          <p:cNvPr id="42" name="TextBox 41"/>
          <p:cNvSpPr txBox="1"/>
          <p:nvPr/>
        </p:nvSpPr>
        <p:spPr>
          <a:xfrm>
            <a:off x="3172968" y="5468112"/>
            <a:ext cx="277977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Execution on Spike and QEMU</a:t>
            </a:r>
          </a:p>
          <a:p>
            <a:pPr algn="l">
              <a:spcAft>
                <a:spcPts val="400"/>
              </a:spcAft>
            </a:pPr>
            <a:r>
              <a:rPr sz="1050" b="0">
                <a:solidFill>
                  <a:srgbClr val="2B2F36"/>
                </a:solidFill>
                <a:latin typeface="Calibri"/>
              </a:rPr>
              <a:t>Documentation finalisation</a:t>
            </a:r>
          </a:p>
        </p:txBody>
      </p:sp>
      <p:sp>
        <p:nvSpPr>
          <p:cNvPr id="43" name="TextBox 42"/>
          <p:cNvSpPr txBox="1"/>
          <p:nvPr/>
        </p:nvSpPr>
        <p:spPr>
          <a:xfrm>
            <a:off x="6099048" y="5468112"/>
            <a:ext cx="2724912"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riscv-arch-test integration</a:t>
            </a:r>
          </a:p>
          <a:p>
            <a:pPr algn="l">
              <a:spcAft>
                <a:spcPts val="400"/>
              </a:spcAft>
            </a:pPr>
            <a:r>
              <a:rPr sz="1050" b="0">
                <a:solidFill>
                  <a:srgbClr val="2B2F36"/>
                </a:solidFill>
                <a:latin typeface="Calibri"/>
              </a:rPr>
              <a:t>Handoff</a:t>
            </a:r>
          </a:p>
        </p:txBody>
      </p:sp>
      <p:sp>
        <p:nvSpPr>
          <p:cNvPr id="44" name="TextBox 43"/>
          <p:cNvSpPr txBox="1"/>
          <p:nvPr/>
        </p:nvSpPr>
        <p:spPr>
          <a:xfrm>
            <a:off x="8970264" y="5468112"/>
            <a:ext cx="2596896" cy="804672"/>
          </a:xfrm>
          <a:prstGeom prst="rect">
            <a:avLst/>
          </a:prstGeom>
          <a:noFill/>
        </p:spPr>
        <p:txBody>
          <a:bodyPr wrap="square" lIns="0" rIns="0" tIns="0" bIns="0">
            <a:spAutoFit/>
          </a:bodyPr>
          <a:lstStyle/>
          <a:p>
            <a:pPr algn="l">
              <a:spcAft>
                <a:spcPts val="400"/>
              </a:spcAft>
            </a:pPr>
            <a:r>
              <a:rPr sz="1050" b="0">
                <a:solidFill>
                  <a:srgbClr val="2B2F36"/>
                </a:solidFill>
                <a:latin typeface="Calibri"/>
              </a:rPr>
              <a:t>The same artefacts run on three simulators; docs complete; repository handed over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18</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Cost, and what "complete" means</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481328"/>
            <a:ext cx="5394960" cy="274320"/>
          </a:xfrm>
          <a:prstGeom prst="rect">
            <a:avLst/>
          </a:prstGeom>
          <a:noFill/>
        </p:spPr>
        <p:txBody>
          <a:bodyPr wrap="square" lIns="0" rIns="0" tIns="0" bIns="0">
            <a:spAutoFit/>
          </a:bodyPr>
          <a:lstStyle/>
          <a:p>
            <a:pPr algn="l">
              <a:spcAft>
                <a:spcPts val="400"/>
              </a:spcAft>
            </a:pPr>
            <a:r>
              <a:rPr sz="1100" b="1">
                <a:solidFill>
                  <a:srgbClr val="1A7FC1"/>
                </a:solidFill>
                <a:latin typeface="Calibri"/>
              </a:rPr>
              <a:t>COST</a:t>
            </a:r>
          </a:p>
        </p:txBody>
      </p:sp>
      <p:sp>
        <p:nvSpPr>
          <p:cNvPr id="10" name="Rectangle 9"/>
          <p:cNvSpPr/>
          <p:nvPr/>
        </p:nvSpPr>
        <p:spPr>
          <a:xfrm>
            <a:off x="566928" y="1737360"/>
            <a:ext cx="539496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901952"/>
            <a:ext cx="1463040" cy="274320"/>
          </a:xfrm>
          <a:prstGeom prst="rect">
            <a:avLst/>
          </a:prstGeom>
          <a:noFill/>
        </p:spPr>
        <p:txBody>
          <a:bodyPr wrap="square" lIns="0" rIns="0" tIns="0" bIns="0">
            <a:spAutoFit/>
          </a:bodyPr>
          <a:lstStyle/>
          <a:p>
            <a:pPr algn="l">
              <a:spcAft>
                <a:spcPts val="400"/>
              </a:spcAft>
            </a:pPr>
            <a:r>
              <a:rPr sz="1150" b="0">
                <a:solidFill>
                  <a:srgbClr val="5C6672"/>
                </a:solidFill>
                <a:latin typeface="Calibri"/>
              </a:rPr>
              <a:t>Duration</a:t>
            </a:r>
          </a:p>
        </p:txBody>
      </p:sp>
      <p:sp>
        <p:nvSpPr>
          <p:cNvPr id="12" name="TextBox 11"/>
          <p:cNvSpPr txBox="1"/>
          <p:nvPr/>
        </p:nvSpPr>
        <p:spPr>
          <a:xfrm>
            <a:off x="2103120" y="1901952"/>
            <a:ext cx="3858768" cy="274320"/>
          </a:xfrm>
          <a:prstGeom prst="rect">
            <a:avLst/>
          </a:prstGeom>
          <a:noFill/>
        </p:spPr>
        <p:txBody>
          <a:bodyPr wrap="square" lIns="0" rIns="0" tIns="0" bIns="0">
            <a:spAutoFit/>
          </a:bodyPr>
          <a:lstStyle/>
          <a:p>
            <a:pPr algn="l">
              <a:spcAft>
                <a:spcPts val="400"/>
              </a:spcAft>
            </a:pPr>
            <a:r>
              <a:rPr sz="1150" b="0">
                <a:solidFill>
                  <a:srgbClr val="0F3057"/>
                </a:solidFill>
                <a:latin typeface="Calibri"/>
              </a:rPr>
              <a:t>15 weeks — five milestones of three weeks</a:t>
            </a:r>
          </a:p>
        </p:txBody>
      </p:sp>
      <p:sp>
        <p:nvSpPr>
          <p:cNvPr id="13" name="TextBox 12"/>
          <p:cNvSpPr txBox="1"/>
          <p:nvPr/>
        </p:nvSpPr>
        <p:spPr>
          <a:xfrm>
            <a:off x="566928" y="2304288"/>
            <a:ext cx="1463040" cy="274320"/>
          </a:xfrm>
          <a:prstGeom prst="rect">
            <a:avLst/>
          </a:prstGeom>
          <a:noFill/>
        </p:spPr>
        <p:txBody>
          <a:bodyPr wrap="square" lIns="0" rIns="0" tIns="0" bIns="0">
            <a:spAutoFit/>
          </a:bodyPr>
          <a:lstStyle/>
          <a:p>
            <a:pPr algn="l">
              <a:spcAft>
                <a:spcPts val="400"/>
              </a:spcAft>
            </a:pPr>
            <a:r>
              <a:rPr sz="1150" b="0">
                <a:solidFill>
                  <a:srgbClr val="5C6672"/>
                </a:solidFill>
                <a:latin typeface="Calibri"/>
              </a:rPr>
              <a:t>Team</a:t>
            </a:r>
          </a:p>
        </p:txBody>
      </p:sp>
      <p:sp>
        <p:nvSpPr>
          <p:cNvPr id="14" name="TextBox 13"/>
          <p:cNvSpPr txBox="1"/>
          <p:nvPr/>
        </p:nvSpPr>
        <p:spPr>
          <a:xfrm>
            <a:off x="2103120" y="2304288"/>
            <a:ext cx="3858768" cy="274320"/>
          </a:xfrm>
          <a:prstGeom prst="rect">
            <a:avLst/>
          </a:prstGeom>
          <a:noFill/>
        </p:spPr>
        <p:txBody>
          <a:bodyPr wrap="square" lIns="0" rIns="0" tIns="0" bIns="0">
            <a:spAutoFit/>
          </a:bodyPr>
          <a:lstStyle/>
          <a:p>
            <a:pPr algn="l">
              <a:spcAft>
                <a:spcPts val="400"/>
              </a:spcAft>
            </a:pPr>
            <a:r>
              <a:rPr sz="1150" b="0">
                <a:solidFill>
                  <a:srgbClr val="2B2F36"/>
                </a:solidFill>
                <a:latin typeface="Calibri"/>
              </a:rPr>
              <a:t>2 engineers, in parallel throughout</a:t>
            </a:r>
          </a:p>
        </p:txBody>
      </p:sp>
      <p:sp>
        <p:nvSpPr>
          <p:cNvPr id="15" name="TextBox 14"/>
          <p:cNvSpPr txBox="1"/>
          <p:nvPr/>
        </p:nvSpPr>
        <p:spPr>
          <a:xfrm>
            <a:off x="566928" y="2706624"/>
            <a:ext cx="1463040" cy="274320"/>
          </a:xfrm>
          <a:prstGeom prst="rect">
            <a:avLst/>
          </a:prstGeom>
          <a:noFill/>
        </p:spPr>
        <p:txBody>
          <a:bodyPr wrap="square" lIns="0" rIns="0" tIns="0" bIns="0">
            <a:spAutoFit/>
          </a:bodyPr>
          <a:lstStyle/>
          <a:p>
            <a:pPr algn="l">
              <a:spcAft>
                <a:spcPts val="400"/>
              </a:spcAft>
            </a:pPr>
            <a:r>
              <a:rPr sz="1150" b="0">
                <a:solidFill>
                  <a:srgbClr val="5C6672"/>
                </a:solidFill>
                <a:latin typeface="Calibri"/>
              </a:rPr>
              <a:t>Rate</a:t>
            </a:r>
          </a:p>
        </p:txBody>
      </p:sp>
      <p:sp>
        <p:nvSpPr>
          <p:cNvPr id="16" name="TextBox 15"/>
          <p:cNvSpPr txBox="1"/>
          <p:nvPr/>
        </p:nvSpPr>
        <p:spPr>
          <a:xfrm>
            <a:off x="2103120" y="2706624"/>
            <a:ext cx="3858768" cy="274320"/>
          </a:xfrm>
          <a:prstGeom prst="rect">
            <a:avLst/>
          </a:prstGeom>
          <a:noFill/>
        </p:spPr>
        <p:txBody>
          <a:bodyPr wrap="square" lIns="0" rIns="0" tIns="0" bIns="0">
            <a:spAutoFit/>
          </a:bodyPr>
          <a:lstStyle/>
          <a:p>
            <a:pPr algn="l">
              <a:spcAft>
                <a:spcPts val="400"/>
              </a:spcAft>
            </a:pPr>
            <a:r>
              <a:rPr sz="1150" b="0">
                <a:solidFill>
                  <a:srgbClr val="2B2F36"/>
                </a:solidFill>
                <a:latin typeface="Calibri"/>
              </a:rPr>
              <a:t>USD 8,000 per month for the team</a:t>
            </a:r>
          </a:p>
        </p:txBody>
      </p:sp>
      <p:sp>
        <p:nvSpPr>
          <p:cNvPr id="17" name="TextBox 16"/>
          <p:cNvSpPr txBox="1"/>
          <p:nvPr/>
        </p:nvSpPr>
        <p:spPr>
          <a:xfrm>
            <a:off x="566928" y="3108960"/>
            <a:ext cx="1463040" cy="274320"/>
          </a:xfrm>
          <a:prstGeom prst="rect">
            <a:avLst/>
          </a:prstGeom>
          <a:noFill/>
        </p:spPr>
        <p:txBody>
          <a:bodyPr wrap="square" lIns="0" rIns="0" tIns="0" bIns="0">
            <a:spAutoFit/>
          </a:bodyPr>
          <a:lstStyle/>
          <a:p>
            <a:pPr algn="l">
              <a:spcAft>
                <a:spcPts val="400"/>
              </a:spcAft>
            </a:pPr>
            <a:r>
              <a:rPr sz="1150" b="0">
                <a:solidFill>
                  <a:srgbClr val="5C6672"/>
                </a:solidFill>
                <a:latin typeface="Calibri"/>
              </a:rPr>
              <a:t>Total</a:t>
            </a:r>
          </a:p>
        </p:txBody>
      </p:sp>
      <p:sp>
        <p:nvSpPr>
          <p:cNvPr id="18" name="TextBox 17"/>
          <p:cNvSpPr txBox="1"/>
          <p:nvPr/>
        </p:nvSpPr>
        <p:spPr>
          <a:xfrm>
            <a:off x="2103120" y="3108960"/>
            <a:ext cx="3858768" cy="274320"/>
          </a:xfrm>
          <a:prstGeom prst="rect">
            <a:avLst/>
          </a:prstGeom>
          <a:noFill/>
        </p:spPr>
        <p:txBody>
          <a:bodyPr wrap="square" lIns="0" rIns="0" tIns="0" bIns="0">
            <a:spAutoFit/>
          </a:bodyPr>
          <a:lstStyle/>
          <a:p>
            <a:pPr algn="l">
              <a:spcAft>
                <a:spcPts val="400"/>
              </a:spcAft>
            </a:pPr>
            <a:r>
              <a:rPr sz="1150" b="1">
                <a:solidFill>
                  <a:srgbClr val="0F3057"/>
                </a:solidFill>
                <a:latin typeface="Calibri"/>
              </a:rPr>
              <a:t>USD 32,000</a:t>
            </a:r>
          </a:p>
        </p:txBody>
      </p:sp>
      <p:sp>
        <p:nvSpPr>
          <p:cNvPr id="19" name="TextBox 18"/>
          <p:cNvSpPr txBox="1"/>
          <p:nvPr/>
        </p:nvSpPr>
        <p:spPr>
          <a:xfrm>
            <a:off x="566928" y="3511296"/>
            <a:ext cx="1463040" cy="274320"/>
          </a:xfrm>
          <a:prstGeom prst="rect">
            <a:avLst/>
          </a:prstGeom>
          <a:noFill/>
        </p:spPr>
        <p:txBody>
          <a:bodyPr wrap="square" lIns="0" rIns="0" tIns="0" bIns="0">
            <a:spAutoFit/>
          </a:bodyPr>
          <a:lstStyle/>
          <a:p>
            <a:pPr algn="l">
              <a:spcAft>
                <a:spcPts val="400"/>
              </a:spcAft>
            </a:pPr>
            <a:r>
              <a:rPr sz="1150" b="0">
                <a:solidFill>
                  <a:srgbClr val="5C6672"/>
                </a:solidFill>
                <a:latin typeface="Calibri"/>
              </a:rPr>
              <a:t>Licence</a:t>
            </a:r>
          </a:p>
        </p:txBody>
      </p:sp>
      <p:sp>
        <p:nvSpPr>
          <p:cNvPr id="20" name="TextBox 19"/>
          <p:cNvSpPr txBox="1"/>
          <p:nvPr/>
        </p:nvSpPr>
        <p:spPr>
          <a:xfrm>
            <a:off x="2103120" y="3511296"/>
            <a:ext cx="3858768" cy="274320"/>
          </a:xfrm>
          <a:prstGeom prst="rect">
            <a:avLst/>
          </a:prstGeom>
          <a:noFill/>
        </p:spPr>
        <p:txBody>
          <a:bodyPr wrap="square" lIns="0" rIns="0" tIns="0" bIns="0">
            <a:spAutoFit/>
          </a:bodyPr>
          <a:lstStyle/>
          <a:p>
            <a:pPr algn="l">
              <a:spcAft>
                <a:spcPts val="400"/>
              </a:spcAft>
            </a:pPr>
            <a:r>
              <a:rPr sz="1150" b="0">
                <a:solidFill>
                  <a:srgbClr val="2B2F36"/>
                </a:solidFill>
                <a:latin typeface="Calibri"/>
              </a:rPr>
              <a:t>Apache-2.0 — the RFP's preferred licence</a:t>
            </a:r>
          </a:p>
        </p:txBody>
      </p:sp>
      <p:sp>
        <p:nvSpPr>
          <p:cNvPr id="21" name="Rectangle 20"/>
          <p:cNvSpPr/>
          <p:nvPr/>
        </p:nvSpPr>
        <p:spPr>
          <a:xfrm>
            <a:off x="566928" y="3950208"/>
            <a:ext cx="5394960" cy="1481328"/>
          </a:xfrm>
          <a:prstGeom prst="rect">
            <a:avLst/>
          </a:prstGeom>
          <a:solidFill>
            <a:srgbClr val="F7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059936"/>
            <a:ext cx="5029200" cy="1298448"/>
          </a:xfrm>
          <a:prstGeom prst="rect">
            <a:avLst/>
          </a:prstGeom>
          <a:noFill/>
        </p:spPr>
        <p:txBody>
          <a:bodyPr wrap="square" lIns="0" rIns="0" tIns="0" bIns="0">
            <a:spAutoFit/>
          </a:bodyPr>
          <a:lstStyle/>
          <a:p>
            <a:pPr algn="l">
              <a:spcAft>
                <a:spcPts val="400"/>
              </a:spcAft>
            </a:pPr>
            <a:r>
              <a:rPr sz="1050" b="0">
                <a:solidFill>
                  <a:srgbClr val="9A6114"/>
                </a:solidFill>
                <a:latin typeface="Calibri"/>
              </a:rPr>
              <a:t>One note on the arithmetic</a:t>
            </a:r>
          </a:p>
          <a:p>
            <a:pPr algn="l">
              <a:spcAft>
                <a:spcPts val="400"/>
              </a:spcAft>
            </a:pPr>
            <a:r>
              <a:rPr sz="1050" b="0">
                <a:solidFill>
                  <a:srgbClr val="9A6114"/>
                </a:solidFill>
                <a:latin typeface="Calibri"/>
              </a:rPr>
              <a:t/>
            </a:r>
          </a:p>
          <a:p>
            <a:pPr algn="l">
              <a:spcAft>
                <a:spcPts val="400"/>
              </a:spcAft>
            </a:pPr>
            <a:r>
              <a:rPr sz="1050" b="0">
                <a:solidFill>
                  <a:srgbClr val="9A6114"/>
                </a:solidFill>
                <a:latin typeface="Calibri"/>
              </a:rPr>
              <a:t>15 weeks is about 3.5 months; at USD 8,000/month that is ~USD 27,700. The 32,000 figure bills four months, covering the delivery weeks plus onboarding and hand-off. Strict pro-rata is 27,700 at unchanged scope — we would rather state the basis than quietly round.</a:t>
            </a:r>
          </a:p>
        </p:txBody>
      </p:sp>
      <p:sp>
        <p:nvSpPr>
          <p:cNvPr id="23" name="TextBox 22"/>
          <p:cNvSpPr txBox="1"/>
          <p:nvPr/>
        </p:nvSpPr>
        <p:spPr>
          <a:xfrm>
            <a:off x="6227064" y="1481328"/>
            <a:ext cx="5394960" cy="274320"/>
          </a:xfrm>
          <a:prstGeom prst="rect">
            <a:avLst/>
          </a:prstGeom>
          <a:noFill/>
        </p:spPr>
        <p:txBody>
          <a:bodyPr wrap="square" lIns="0" rIns="0" tIns="0" bIns="0">
            <a:spAutoFit/>
          </a:bodyPr>
          <a:lstStyle/>
          <a:p>
            <a:pPr algn="l">
              <a:spcAft>
                <a:spcPts val="400"/>
              </a:spcAft>
            </a:pPr>
            <a:r>
              <a:rPr sz="1100" b="1">
                <a:solidFill>
                  <a:srgbClr val="1A7FC1"/>
                </a:solidFill>
                <a:latin typeface="Calibri"/>
              </a:rPr>
              <a:t>DEFINITION OF COMPLETE</a:t>
            </a:r>
          </a:p>
        </p:txBody>
      </p:sp>
      <p:sp>
        <p:nvSpPr>
          <p:cNvPr id="24" name="Rectangle 23"/>
          <p:cNvSpPr/>
          <p:nvPr/>
        </p:nvSpPr>
        <p:spPr>
          <a:xfrm>
            <a:off x="6227064" y="1737360"/>
            <a:ext cx="5394960" cy="18288"/>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27064" y="1901952"/>
            <a:ext cx="5394960" cy="73152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7376" y="2029968"/>
            <a:ext cx="5029200" cy="548640"/>
          </a:xfrm>
          <a:prstGeom prst="rect">
            <a:avLst/>
          </a:prstGeom>
          <a:noFill/>
        </p:spPr>
        <p:txBody>
          <a:bodyPr wrap="square" lIns="0" rIns="0" tIns="0" bIns="0">
            <a:spAutoFit/>
          </a:bodyPr>
          <a:lstStyle/>
          <a:p>
            <a:pPr algn="l">
              <a:spcAft>
                <a:spcPts val="400"/>
              </a:spcAft>
            </a:pPr>
            <a:r>
              <a:rPr sz="1150" b="1">
                <a:solidFill>
                  <a:srgbClr val="0F3057"/>
                </a:solidFill>
                <a:latin typeface="Calibri"/>
              </a:rPr>
              <a:t>Coverage of the REACHABLE targets in the Sail model's branch structure.</a:t>
            </a:r>
          </a:p>
          <a:p>
            <a:pPr algn="l">
              <a:spcAft>
                <a:spcPts val="400"/>
              </a:spcAft>
            </a:pPr>
            <a:r>
              <a:rPr sz="1150" b="1">
                <a:solidFill>
                  <a:srgbClr val="0F3057"/>
                </a:solidFill>
                <a:latin typeface="Calibri"/>
              </a:rPr>
              <a:t>100% is the ideal for every extension and operating mode in scope.</a:t>
            </a:r>
          </a:p>
        </p:txBody>
      </p:sp>
      <p:sp>
        <p:nvSpPr>
          <p:cNvPr id="27" name="TextBox 26"/>
          <p:cNvSpPr txBox="1"/>
          <p:nvPr/>
        </p:nvSpPr>
        <p:spPr>
          <a:xfrm>
            <a:off x="6227064" y="2788920"/>
            <a:ext cx="5394960" cy="320040"/>
          </a:xfrm>
          <a:prstGeom prst="rect">
            <a:avLst/>
          </a:prstGeom>
          <a:noFill/>
        </p:spPr>
        <p:txBody>
          <a:bodyPr wrap="square" lIns="0" rIns="0" tIns="0" bIns="0">
            <a:spAutoFit/>
          </a:bodyPr>
          <a:lstStyle/>
          <a:p>
            <a:pPr algn="l">
              <a:spcAft>
                <a:spcPts val="400"/>
              </a:spcAft>
            </a:pPr>
            <a:r>
              <a:rPr sz="1100" b="0">
                <a:solidFill>
                  <a:srgbClr val="2B2F36"/>
                </a:solidFill>
                <a:latin typeface="Calibri"/>
              </a:rPr>
              <a:t>Three kinds of exclusion, each with a written reason:</a:t>
            </a:r>
          </a:p>
        </p:txBody>
      </p:sp>
      <p:sp>
        <p:nvSpPr>
          <p:cNvPr id="28" name="TextBox 27"/>
          <p:cNvSpPr txBox="1"/>
          <p:nvPr/>
        </p:nvSpPr>
        <p:spPr>
          <a:xfrm>
            <a:off x="6227064" y="3154680"/>
            <a:ext cx="5394960" cy="256032"/>
          </a:xfrm>
          <a:prstGeom prst="rect">
            <a:avLst/>
          </a:prstGeom>
          <a:noFill/>
        </p:spPr>
        <p:txBody>
          <a:bodyPr wrap="square" lIns="0" rIns="0" tIns="0" bIns="0">
            <a:spAutoFit/>
          </a:bodyPr>
          <a:lstStyle/>
          <a:p>
            <a:pPr algn="l">
              <a:spcAft>
                <a:spcPts val="400"/>
              </a:spcAft>
            </a:pPr>
            <a:r>
              <a:rPr sz="1100" b="1">
                <a:solidFill>
                  <a:srgbClr val="0F3057"/>
                </a:solidFill>
                <a:latin typeface="Calibri"/>
              </a:rPr>
              <a:t>Unreachable by construction</a:t>
            </a:r>
          </a:p>
        </p:txBody>
      </p:sp>
      <p:sp>
        <p:nvSpPr>
          <p:cNvPr id="29" name="TextBox 28"/>
          <p:cNvSpPr txBox="1"/>
          <p:nvPr/>
        </p:nvSpPr>
        <p:spPr>
          <a:xfrm>
            <a:off x="6227064" y="3374136"/>
            <a:ext cx="5394960" cy="411480"/>
          </a:xfrm>
          <a:prstGeom prst="rect">
            <a:avLst/>
          </a:prstGeom>
          <a:noFill/>
        </p:spPr>
        <p:txBody>
          <a:bodyPr wrap="square" lIns="0" rIns="0" tIns="0" bIns="0">
            <a:spAutoFit/>
          </a:bodyPr>
          <a:lstStyle/>
          <a:p>
            <a:pPr algn="l">
              <a:spcAft>
                <a:spcPts val="400"/>
              </a:spcAft>
            </a:pPr>
            <a:r>
              <a:rPr sz="1050" b="0">
                <a:solidFill>
                  <a:srgbClr val="2B2F36"/>
                </a:solidFill>
                <a:latin typeface="Calibri"/>
              </a:rPr>
              <a:t>internal_error arms — reaching one means the model is broken</a:t>
            </a:r>
          </a:p>
        </p:txBody>
      </p:sp>
      <p:sp>
        <p:nvSpPr>
          <p:cNvPr id="30" name="TextBox 29"/>
          <p:cNvSpPr txBox="1"/>
          <p:nvPr/>
        </p:nvSpPr>
        <p:spPr>
          <a:xfrm>
            <a:off x="6227064" y="3813048"/>
            <a:ext cx="5394960" cy="256032"/>
          </a:xfrm>
          <a:prstGeom prst="rect">
            <a:avLst/>
          </a:prstGeom>
          <a:noFill/>
        </p:spPr>
        <p:txBody>
          <a:bodyPr wrap="square" lIns="0" rIns="0" tIns="0" bIns="0">
            <a:spAutoFit/>
          </a:bodyPr>
          <a:lstStyle/>
          <a:p>
            <a:pPr algn="l">
              <a:spcAft>
                <a:spcPts val="400"/>
              </a:spcAft>
            </a:pPr>
            <a:r>
              <a:rPr sz="1100" b="1">
                <a:solidFill>
                  <a:srgbClr val="0F3057"/>
                </a:solidFill>
                <a:latin typeface="Calibri"/>
              </a:rPr>
              <a:t>Proved unreachable</a:t>
            </a:r>
          </a:p>
        </p:txBody>
      </p:sp>
      <p:sp>
        <p:nvSpPr>
          <p:cNvPr id="31" name="TextBox 30"/>
          <p:cNvSpPr txBox="1"/>
          <p:nvPr/>
        </p:nvSpPr>
        <p:spPr>
          <a:xfrm>
            <a:off x="6227064" y="4032504"/>
            <a:ext cx="5394960" cy="411480"/>
          </a:xfrm>
          <a:prstGeom prst="rect">
            <a:avLst/>
          </a:prstGeom>
          <a:noFill/>
        </p:spPr>
        <p:txBody>
          <a:bodyPr wrap="square" lIns="0" rIns="0" tIns="0" bIns="0">
            <a:spAutoFit/>
          </a:bodyPr>
          <a:lstStyle/>
          <a:p>
            <a:pPr algn="l">
              <a:spcAft>
                <a:spcPts val="400"/>
              </a:spcAft>
            </a:pPr>
            <a:r>
              <a:rPr sz="1050" b="0">
                <a:solidFill>
                  <a:srgbClr val="2B2F36"/>
                </a:solidFill>
                <a:latin typeface="Calibri"/>
              </a:rPr>
              <a:t>a path the solver returns UNSAT for — the strongest form, unique to the symbolic route</a:t>
            </a:r>
          </a:p>
        </p:txBody>
      </p:sp>
      <p:sp>
        <p:nvSpPr>
          <p:cNvPr id="32" name="TextBox 31"/>
          <p:cNvSpPr txBox="1"/>
          <p:nvPr/>
        </p:nvSpPr>
        <p:spPr>
          <a:xfrm>
            <a:off x="6227064" y="4471416"/>
            <a:ext cx="5394960" cy="256032"/>
          </a:xfrm>
          <a:prstGeom prst="rect">
            <a:avLst/>
          </a:prstGeom>
          <a:noFill/>
        </p:spPr>
        <p:txBody>
          <a:bodyPr wrap="square" lIns="0" rIns="0" tIns="0" bIns="0">
            <a:spAutoFit/>
          </a:bodyPr>
          <a:lstStyle/>
          <a:p>
            <a:pPr algn="l">
              <a:spcAft>
                <a:spcPts val="400"/>
              </a:spcAft>
            </a:pPr>
            <a:r>
              <a:rPr sz="1100" b="1">
                <a:solidFill>
                  <a:srgbClr val="0F3057"/>
                </a:solidFill>
                <a:latin typeface="Calibri"/>
              </a:rPr>
              <a:t>Not in this configuration</a:t>
            </a:r>
          </a:p>
        </p:txBody>
      </p:sp>
      <p:sp>
        <p:nvSpPr>
          <p:cNvPr id="33" name="TextBox 32"/>
          <p:cNvSpPr txBox="1"/>
          <p:nvPr/>
        </p:nvSpPr>
        <p:spPr>
          <a:xfrm>
            <a:off x="6227064" y="4690872"/>
            <a:ext cx="5394960" cy="411480"/>
          </a:xfrm>
          <a:prstGeom prst="rect">
            <a:avLst/>
          </a:prstGeom>
          <a:noFill/>
        </p:spPr>
        <p:txBody>
          <a:bodyPr wrap="square" lIns="0" rIns="0" tIns="0" bIns="0">
            <a:spAutoFit/>
          </a:bodyPr>
          <a:lstStyle/>
          <a:p>
            <a:pPr algn="l">
              <a:spcAft>
                <a:spcPts val="400"/>
              </a:spcAft>
            </a:pPr>
            <a:r>
              <a:rPr sz="1050" b="0">
                <a:solidFill>
                  <a:srgbClr val="2B2F36"/>
                </a:solidFill>
                <a:latin typeface="Calibri"/>
              </a:rPr>
              <a:t>a span needing an extension the build does not enable; counted where it is reachable</a:t>
            </a:r>
          </a:p>
        </p:txBody>
      </p:sp>
      <p:sp>
        <p:nvSpPr>
          <p:cNvPr id="34" name="Rectangle 33"/>
          <p:cNvSpPr/>
          <p:nvPr/>
        </p:nvSpPr>
        <p:spPr>
          <a:xfrm>
            <a:off x="6227064" y="5138928"/>
            <a:ext cx="5394960" cy="1225296"/>
          </a:xfrm>
          <a:prstGeom prst="rect">
            <a:avLst/>
          </a:prstGeom>
          <a:solidFill>
            <a:srgbClr val="FA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7376" y="5248656"/>
            <a:ext cx="5029200" cy="1042415"/>
          </a:xfrm>
          <a:prstGeom prst="rect">
            <a:avLst/>
          </a:prstGeom>
          <a:noFill/>
        </p:spPr>
        <p:txBody>
          <a:bodyPr wrap="square" lIns="0" rIns="0" tIns="0" bIns="0">
            <a:spAutoFit/>
          </a:bodyPr>
          <a:lstStyle/>
          <a:p>
            <a:pPr algn="l">
              <a:spcAft>
                <a:spcPts val="400"/>
              </a:spcAft>
            </a:pPr>
            <a:r>
              <a:rPr sz="1050" b="0">
                <a:solidFill>
                  <a:srgbClr val="A5372B"/>
                </a:solidFill>
                <a:latin typeface="Calibri"/>
              </a:rPr>
              <a:t>Two figures are always published, never one. Excluding FP and vector RAISES the percentage — they are the better-covered half — so the in-scope figure alone flatters the work and the combined figure alone hides which half is the deliverable.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56032"/>
            <a:ext cx="100584" cy="45720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77272" y="201168"/>
            <a:ext cx="1463040" cy="274320"/>
          </a:xfrm>
          <a:prstGeom prst="rect">
            <a:avLst/>
          </a:prstGeom>
          <a:noFill/>
        </p:spPr>
        <p:txBody>
          <a:bodyPr wrap="square" lIns="0" rIns="0" tIns="0" bIns="0">
            <a:spAutoFit/>
          </a:bodyPr>
          <a:lstStyle/>
          <a:p>
            <a:pPr algn="r">
              <a:spcAft>
                <a:spcPts val="400"/>
              </a:spcAft>
            </a:pPr>
            <a:r>
              <a:rPr sz="1100" b="1">
                <a:solidFill>
                  <a:srgbClr val="0F3057"/>
                </a:solidFill>
                <a:latin typeface="Calibri"/>
              </a:rPr>
              <a:t>10xENGINEERS</a:t>
            </a:r>
          </a:p>
        </p:txBody>
      </p:sp>
      <p:sp>
        <p:nvSpPr>
          <p:cNvPr id="4" name="Rectangle 3"/>
          <p:cNvSpPr/>
          <p:nvPr/>
        </p:nvSpPr>
        <p:spPr>
          <a:xfrm>
            <a:off x="10268712" y="6547104"/>
            <a:ext cx="1005840" cy="45720"/>
          </a:xfrm>
          <a:prstGeom prst="rect">
            <a:avLst/>
          </a:prstGeom>
          <a:solidFill>
            <a:srgbClr val="D6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74552" y="6547104"/>
            <a:ext cx="384048" cy="45720"/>
          </a:xfrm>
          <a:prstGeom prst="rect">
            <a:avLst/>
          </a:prstGeom>
          <a:solidFill>
            <a:srgbClr val="1A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55664"/>
            <a:ext cx="914400" cy="274320"/>
          </a:xfrm>
          <a:prstGeom prst="rect">
            <a:avLst/>
          </a:prstGeom>
          <a:noFill/>
        </p:spPr>
        <p:txBody>
          <a:bodyPr wrap="square" lIns="0" rIns="0" tIns="0" bIns="0">
            <a:spAutoFit/>
          </a:bodyPr>
          <a:lstStyle/>
          <a:p>
            <a:pPr algn="l">
              <a:spcAft>
                <a:spcPts val="400"/>
              </a:spcAft>
            </a:pPr>
            <a:r>
              <a:rPr sz="1000" b="0">
                <a:solidFill>
                  <a:srgbClr val="8A929C"/>
                </a:solidFill>
                <a:latin typeface="Calibri"/>
              </a:rPr>
              <a:t>19</a:t>
            </a:r>
          </a:p>
        </p:txBody>
      </p:sp>
      <p:sp>
        <p:nvSpPr>
          <p:cNvPr id="7" name="TextBox 6"/>
          <p:cNvSpPr txBox="1"/>
          <p:nvPr/>
        </p:nvSpPr>
        <p:spPr>
          <a:xfrm>
            <a:off x="566928" y="384048"/>
            <a:ext cx="11055096" cy="566928"/>
          </a:xfrm>
          <a:prstGeom prst="rect">
            <a:avLst/>
          </a:prstGeom>
          <a:noFill/>
        </p:spPr>
        <p:txBody>
          <a:bodyPr wrap="square" lIns="0" rIns="0" tIns="0" bIns="0">
            <a:spAutoFit/>
          </a:bodyPr>
          <a:lstStyle/>
          <a:p>
            <a:pPr algn="l">
              <a:spcAft>
                <a:spcPts val="400"/>
              </a:spcAft>
            </a:pPr>
            <a:r>
              <a:rPr sz="2200" b="1">
                <a:solidFill>
                  <a:srgbClr val="0F3057"/>
                </a:solidFill>
                <a:latin typeface="Calibri"/>
              </a:rPr>
              <a:t>What already exists</a:t>
            </a:r>
          </a:p>
        </p:txBody>
      </p:sp>
      <p:sp>
        <p:nvSpPr>
          <p:cNvPr id="8" name="Rectangle 7"/>
          <p:cNvSpPr/>
          <p:nvPr/>
        </p:nvSpPr>
        <p:spPr>
          <a:xfrm>
            <a:off x="566928" y="987552"/>
            <a:ext cx="11055096" cy="18288"/>
          </a:xfrm>
          <a:prstGeom prst="rect">
            <a:avLst/>
          </a:prstGeom>
          <a:solidFill>
            <a:srgbClr val="0F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115568"/>
            <a:ext cx="11055096" cy="457200"/>
          </a:xfrm>
          <a:prstGeom prst="rect">
            <a:avLst/>
          </a:prstGeom>
          <a:noFill/>
        </p:spPr>
        <p:txBody>
          <a:bodyPr wrap="square" lIns="0" rIns="0" tIns="0" bIns="0">
            <a:spAutoFit/>
          </a:bodyPr>
          <a:lstStyle/>
          <a:p>
            <a:pPr algn="l">
              <a:spcAft>
                <a:spcPts val="400"/>
              </a:spcAft>
            </a:pPr>
            <a:r>
              <a:rPr sz="1250" b="0">
                <a:solidFill>
                  <a:srgbClr val="5C6672"/>
                </a:solidFill>
                <a:latin typeface="Calibri"/>
              </a:rPr>
              <a:t>This is not a plan for work that has not started. A working implementation exists today — the strongest evidence that the plan is deliverable.</a:t>
            </a:r>
          </a:p>
        </p:txBody>
      </p:sp>
      <p:sp>
        <p:nvSpPr>
          <p:cNvPr id="10" name="Rectangle 9"/>
          <p:cNvSpPr/>
          <p:nvPr/>
        </p:nvSpPr>
        <p:spPr>
          <a:xfrm>
            <a:off x="566928" y="1755648"/>
            <a:ext cx="118872" cy="118872"/>
          </a:xfrm>
          <a:prstGeom prst="rect">
            <a:avLst/>
          </a:prstGeom>
          <a:solidFill>
            <a:srgbClr val="0F7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691640"/>
            <a:ext cx="10698480" cy="292608"/>
          </a:xfrm>
          <a:prstGeom prst="rect">
            <a:avLst/>
          </a:prstGeom>
          <a:noFill/>
        </p:spPr>
        <p:txBody>
          <a:bodyPr wrap="square" lIns="0" rIns="0" tIns="0" bIns="0">
            <a:spAutoFit/>
          </a:bodyPr>
          <a:lstStyle/>
          <a:p>
            <a:pPr algn="l">
              <a:spcAft>
                <a:spcPts val="400"/>
              </a:spcAft>
            </a:pPr>
            <a:r>
              <a:rPr sz="1200" b="0">
                <a:solidFill>
                  <a:srgbClr val="2B2F36"/>
                </a:solidFill>
                <a:latin typeface="Calibri"/>
              </a:rPr>
              <a:t>Both generators, producing self-checking ELFs from the unmodified model</a:t>
            </a:r>
          </a:p>
        </p:txBody>
      </p:sp>
      <p:sp>
        <p:nvSpPr>
          <p:cNvPr id="12" name="Rectangle 11"/>
          <p:cNvSpPr/>
          <p:nvPr/>
        </p:nvSpPr>
        <p:spPr>
          <a:xfrm>
            <a:off x="566928" y="2139696"/>
            <a:ext cx="118872" cy="118872"/>
          </a:xfrm>
          <a:prstGeom prst="rect">
            <a:avLst/>
          </a:prstGeom>
          <a:solidFill>
            <a:srgbClr val="0F7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075688"/>
            <a:ext cx="10698480" cy="292608"/>
          </a:xfrm>
          <a:prstGeom prst="rect">
            <a:avLst/>
          </a:prstGeom>
          <a:noFill/>
        </p:spPr>
        <p:txBody>
          <a:bodyPr wrap="square" lIns="0" rIns="0" tIns="0" bIns="0">
            <a:spAutoFit/>
          </a:bodyPr>
          <a:lstStyle/>
          <a:p>
            <a:pPr algn="l">
              <a:spcAft>
                <a:spcPts val="400"/>
              </a:spcAft>
            </a:pPr>
            <a:r>
              <a:rPr sz="1200" b="0">
                <a:solidFill>
                  <a:srgbClr val="2B2F36"/>
                </a:solidFill>
                <a:latin typeface="Calibri"/>
              </a:rPr>
              <a:t>1,280 instructions across 23 extensions, parsed from the model</a:t>
            </a:r>
          </a:p>
        </p:txBody>
      </p:sp>
      <p:sp>
        <p:nvSpPr>
          <p:cNvPr id="14" name="Rectangle 13"/>
          <p:cNvSpPr/>
          <p:nvPr/>
        </p:nvSpPr>
        <p:spPr>
          <a:xfrm>
            <a:off x="566928" y="2523744"/>
            <a:ext cx="118872" cy="118872"/>
          </a:xfrm>
          <a:prstGeom prst="rect">
            <a:avLst/>
          </a:prstGeom>
          <a:solidFill>
            <a:srgbClr val="0F7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459736"/>
            <a:ext cx="10698480" cy="292608"/>
          </a:xfrm>
          <a:prstGeom prst="rect">
            <a:avLst/>
          </a:prstGeom>
          <a:noFill/>
        </p:spPr>
        <p:txBody>
          <a:bodyPr wrap="square" lIns="0" rIns="0" tIns="0" bIns="0">
            <a:spAutoFit/>
          </a:bodyPr>
          <a:lstStyle/>
          <a:p>
            <a:pPr algn="l">
              <a:spcAft>
                <a:spcPts val="400"/>
              </a:spcAft>
            </a:pPr>
            <a:r>
              <a:rPr sz="1200" b="0">
                <a:solidFill>
                  <a:srgbClr val="2B2F36"/>
                </a:solidFill>
                <a:latin typeface="Calibri"/>
              </a:rPr>
              <a:t>RV32 and RV64, both routes, verified end to end</a:t>
            </a:r>
          </a:p>
        </p:txBody>
      </p:sp>
      <p:sp>
        <p:nvSpPr>
          <p:cNvPr id="16" name="Rectangle 15"/>
          <p:cNvSpPr/>
          <p:nvPr/>
        </p:nvSpPr>
        <p:spPr>
          <a:xfrm>
            <a:off x="566928" y="2907791"/>
            <a:ext cx="118872" cy="118872"/>
          </a:xfrm>
          <a:prstGeom prst="rect">
            <a:avLst/>
          </a:prstGeom>
          <a:solidFill>
            <a:srgbClr val="0F7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843784"/>
            <a:ext cx="10698480" cy="292608"/>
          </a:xfrm>
          <a:prstGeom prst="rect">
            <a:avLst/>
          </a:prstGeom>
          <a:noFill/>
        </p:spPr>
        <p:txBody>
          <a:bodyPr wrap="square" lIns="0" rIns="0" tIns="0" bIns="0">
            <a:spAutoFit/>
          </a:bodyPr>
          <a:lstStyle/>
          <a:p>
            <a:pPr algn="l">
              <a:spcAft>
                <a:spcPts val="400"/>
              </a:spcAft>
            </a:pPr>
            <a:r>
              <a:rPr sz="1200" b="0">
                <a:solidFill>
                  <a:srgbClr val="2B2F36"/>
                </a:solidFill>
                <a:latin typeface="Calibri"/>
              </a:rPr>
              <a:t>Branch coverage against the Sail sources, with justified exclusions</a:t>
            </a:r>
          </a:p>
        </p:txBody>
      </p:sp>
      <p:sp>
        <p:nvSpPr>
          <p:cNvPr id="18" name="Rectangle 17"/>
          <p:cNvSpPr/>
          <p:nvPr/>
        </p:nvSpPr>
        <p:spPr>
          <a:xfrm>
            <a:off x="566928" y="3291839"/>
            <a:ext cx="118872" cy="118872"/>
          </a:xfrm>
          <a:prstGeom prst="rect">
            <a:avLst/>
          </a:prstGeom>
          <a:solidFill>
            <a:srgbClr val="0F7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227832"/>
            <a:ext cx="10698480" cy="292608"/>
          </a:xfrm>
          <a:prstGeom prst="rect">
            <a:avLst/>
          </a:prstGeom>
          <a:noFill/>
        </p:spPr>
        <p:txBody>
          <a:bodyPr wrap="square" lIns="0" rIns="0" tIns="0" bIns="0">
            <a:spAutoFit/>
          </a:bodyPr>
          <a:lstStyle/>
          <a:p>
            <a:pPr algn="l">
              <a:spcAft>
                <a:spcPts val="400"/>
              </a:spcAft>
            </a:pPr>
            <a:r>
              <a:rPr sz="1200" b="0">
                <a:solidFill>
                  <a:srgbClr val="2B2F36"/>
                </a:solidFill>
                <a:latin typeface="Calibri"/>
              </a:rPr>
              <a:t>Privileged scenarios — privilege transitions, PMP violations, Sv39 walks, interrupt delivery — each with negative controls</a:t>
            </a:r>
          </a:p>
        </p:txBody>
      </p:sp>
      <p:sp>
        <p:nvSpPr>
          <p:cNvPr id="20" name="Rectangle 19"/>
          <p:cNvSpPr/>
          <p:nvPr/>
        </p:nvSpPr>
        <p:spPr>
          <a:xfrm>
            <a:off x="566928" y="3675887"/>
            <a:ext cx="118872" cy="118872"/>
          </a:xfrm>
          <a:prstGeom prst="rect">
            <a:avLst/>
          </a:prstGeom>
          <a:solidFill>
            <a:srgbClr val="0F7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611879"/>
            <a:ext cx="10698480" cy="292608"/>
          </a:xfrm>
          <a:prstGeom prst="rect">
            <a:avLst/>
          </a:prstGeom>
          <a:noFill/>
        </p:spPr>
        <p:txBody>
          <a:bodyPr wrap="square" lIns="0" rIns="0" tIns="0" bIns="0">
            <a:spAutoFit/>
          </a:bodyPr>
          <a:lstStyle/>
          <a:p>
            <a:pPr algn="l">
              <a:spcAft>
                <a:spcPts val="400"/>
              </a:spcAft>
            </a:pPr>
            <a:r>
              <a:rPr sz="1200" b="0">
                <a:solidFill>
                  <a:srgbClr val="2B2F36"/>
                </a:solidFill>
                <a:latin typeface="Calibri"/>
              </a:rPr>
              <a:t>Execution on Sail, Spike, QEMU and CVA6 RTL</a:t>
            </a:r>
          </a:p>
        </p:txBody>
      </p:sp>
      <p:sp>
        <p:nvSpPr>
          <p:cNvPr id="22" name="Rectangle 21"/>
          <p:cNvSpPr/>
          <p:nvPr/>
        </p:nvSpPr>
        <p:spPr>
          <a:xfrm>
            <a:off x="566928" y="4059936"/>
            <a:ext cx="118872" cy="118872"/>
          </a:xfrm>
          <a:prstGeom prst="rect">
            <a:avLst/>
          </a:prstGeom>
          <a:solidFill>
            <a:srgbClr val="0F7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995928"/>
            <a:ext cx="10698480" cy="292608"/>
          </a:xfrm>
          <a:prstGeom prst="rect">
            <a:avLst/>
          </a:prstGeom>
          <a:noFill/>
        </p:spPr>
        <p:txBody>
          <a:bodyPr wrap="square" lIns="0" rIns="0" tIns="0" bIns="0">
            <a:spAutoFit/>
          </a:bodyPr>
          <a:lstStyle/>
          <a:p>
            <a:pPr algn="l">
              <a:spcAft>
                <a:spcPts val="400"/>
              </a:spcAft>
            </a:pPr>
            <a:r>
              <a:rPr sz="1200" b="0">
                <a:solidFill>
                  <a:srgbClr val="2B2F36"/>
                </a:solidFill>
                <a:latin typeface="Calibri"/>
              </a:rPr>
              <a:t>riscv-arch-test compatibility, proven through ACT4's own pipeline</a:t>
            </a:r>
          </a:p>
        </p:txBody>
      </p:sp>
      <p:sp>
        <p:nvSpPr>
          <p:cNvPr id="24" name="Rectangle 23"/>
          <p:cNvSpPr/>
          <p:nvPr/>
        </p:nvSpPr>
        <p:spPr>
          <a:xfrm>
            <a:off x="566928" y="4443984"/>
            <a:ext cx="118872" cy="118872"/>
          </a:xfrm>
          <a:prstGeom prst="rect">
            <a:avLst/>
          </a:prstGeom>
          <a:solidFill>
            <a:srgbClr val="0F7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379976"/>
            <a:ext cx="10698480" cy="292608"/>
          </a:xfrm>
          <a:prstGeom prst="rect">
            <a:avLst/>
          </a:prstGeom>
          <a:noFill/>
        </p:spPr>
        <p:txBody>
          <a:bodyPr wrap="square" lIns="0" rIns="0" tIns="0" bIns="0">
            <a:spAutoFit/>
          </a:bodyPr>
          <a:lstStyle/>
          <a:p>
            <a:pPr algn="l">
              <a:spcAft>
                <a:spcPts val="400"/>
              </a:spcAft>
            </a:pPr>
            <a:r>
              <a:rPr sz="1200" b="0">
                <a:solidFill>
                  <a:srgbClr val="2B2F36"/>
                </a:solidFill>
                <a:latin typeface="Calibri"/>
              </a:rPr>
              <a:t>A real Golden Model defect found, fixed and filed as a PR</a:t>
            </a:r>
          </a:p>
        </p:txBody>
      </p:sp>
      <p:sp>
        <p:nvSpPr>
          <p:cNvPr id="26" name="Rectangle 25"/>
          <p:cNvSpPr/>
          <p:nvPr/>
        </p:nvSpPr>
        <p:spPr>
          <a:xfrm>
            <a:off x="566928" y="4828032"/>
            <a:ext cx="11055096" cy="155448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937760"/>
            <a:ext cx="10607040" cy="1371600"/>
          </a:xfrm>
          <a:prstGeom prst="rect">
            <a:avLst/>
          </a:prstGeom>
          <a:noFill/>
        </p:spPr>
        <p:txBody>
          <a:bodyPr wrap="square" lIns="0" rIns="0" tIns="0" bIns="0">
            <a:spAutoFit/>
          </a:bodyPr>
          <a:lstStyle/>
          <a:p>
            <a:pPr algn="l">
              <a:spcAft>
                <a:spcPts val="400"/>
              </a:spcAft>
            </a:pPr>
            <a:r>
              <a:rPr sz="1100" b="1">
                <a:solidFill>
                  <a:srgbClr val="0F3057"/>
                </a:solidFill>
                <a:latin typeface="Calibri"/>
              </a:rPr>
              <a:t>What the 15 weeks buys is not a prototype — it is the difference between a framework that demonstrably works and one that is</a:t>
            </a:r>
          </a:p>
          <a:p>
            <a:pPr algn="l">
              <a:spcAft>
                <a:spcPts val="400"/>
              </a:spcAft>
            </a:pPr>
            <a:r>
              <a:rPr sz="1100" b="1">
                <a:solidFill>
                  <a:srgbClr val="0F3057"/>
                </a:solidFill>
                <a:latin typeface="Calibri"/>
              </a:rPr>
              <a:t>complete, measured, documented, and maintainable by the community after we leave.</a:t>
            </a:r>
          </a:p>
          <a:p>
            <a:pPr algn="l">
              <a:spcAft>
                <a:spcPts val="400"/>
              </a:spcAft>
            </a:pPr>
            <a:r>
              <a:rPr sz="1100" b="1">
                <a:solidFill>
                  <a:srgbClr val="0F3057"/>
                </a:solidFill>
                <a:latin typeface="Calibri"/>
              </a:rPr>
              <a:t/>
            </a:r>
          </a:p>
          <a:p>
            <a:pPr algn="l">
              <a:spcAft>
                <a:spcPts val="400"/>
              </a:spcAft>
            </a:pPr>
            <a:r>
              <a:rPr sz="1100" b="1">
                <a:solidFill>
                  <a:srgbClr val="0F3057"/>
                </a:solidFill>
                <a:latin typeface="Calibri"/>
              </a:rPr>
              <a:t>The gaps are known and named: PMA has no tests yet, 1 of 18 PMP access kinds is exercised, no virtual-memory permission failure is</a:t>
            </a:r>
          </a:p>
          <a:p>
            <a:pPr algn="l">
              <a:spcAft>
                <a:spcPts val="400"/>
              </a:spcAft>
            </a:pPr>
            <a:r>
              <a:rPr sz="1100" b="1">
                <a:solidFill>
                  <a:srgbClr val="0F3057"/>
                </a:solidFill>
                <a:latin typeface="Calibri"/>
              </a:rPr>
              <a:t>currently reachable, and the configuration matrix runs two of sixteen. Each is a line item above, not a discovery waiting to happen.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